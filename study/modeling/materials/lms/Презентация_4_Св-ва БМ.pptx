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495" r:id="rId2"/>
    <p:sldId id="257" r:id="rId3"/>
    <p:sldId id="436" r:id="rId4"/>
    <p:sldId id="437" r:id="rId5"/>
    <p:sldId id="438" r:id="rId6"/>
    <p:sldId id="441" r:id="rId7"/>
    <p:sldId id="496" r:id="rId8"/>
  </p:sldIdLst>
  <p:sldSz cx="9906000" cy="6858000" type="A4"/>
  <p:notesSz cx="9944100" cy="6815138"/>
  <p:defaultTextStyle>
    <a:defPPr>
      <a:defRPr lang="ru-RU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6">
          <p15:clr>
            <a:srgbClr val="A4A3A4"/>
          </p15:clr>
        </p15:guide>
        <p15:guide id="2" pos="31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CCFFCC"/>
    <a:srgbClr val="FFFFCC"/>
    <a:srgbClr val="FFCCCC"/>
    <a:srgbClr val="FFFF99"/>
    <a:srgbClr val="99FFCC"/>
    <a:srgbClr val="99FF99"/>
    <a:srgbClr val="66FF66"/>
    <a:srgbClr val="66FF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1" autoAdjust="0"/>
    <p:restoredTop sz="94139" autoAdjust="0"/>
  </p:normalViewPr>
  <p:slideViewPr>
    <p:cSldViewPr>
      <p:cViewPr varScale="1">
        <p:scale>
          <a:sx n="108" d="100"/>
          <a:sy n="108" d="100"/>
        </p:scale>
        <p:origin x="1506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82"/>
    </p:cViewPr>
  </p:sorterViewPr>
  <p:notesViewPr>
    <p:cSldViewPr>
      <p:cViewPr varScale="1">
        <p:scale>
          <a:sx n="70" d="100"/>
          <a:sy n="70" d="100"/>
        </p:scale>
        <p:origin x="-1782" y="-114"/>
      </p:cViewPr>
      <p:guideLst>
        <p:guide orient="horz" pos="2146"/>
        <p:guide pos="313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8189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2660" y="0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72645"/>
            <a:ext cx="4308189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2660" y="6472645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E563351-E8F8-47DF-B27E-8D5FD4B5068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ru-RU"/>
              <a:t>Раздел 1. Общие вопросы моделирования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660" y="0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5788" y="511175"/>
            <a:ext cx="3692525" cy="2555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573" y="3237112"/>
            <a:ext cx="7954955" cy="3066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2645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660" y="6472645"/>
            <a:ext cx="4309814" cy="34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C40D12B-0BF3-417F-853F-B5B903A8957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3163C-9401-4B05-86A7-9AC70DA477DE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2A9FE-F60E-4448-9334-D9F0582C092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4DFA2-3690-4D57-BCA6-FBD0D22214E5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08D93-475E-4C84-BCD4-79A3215EF5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04780-17C0-4588-B23A-D35999ABA9FF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3F711-9A0D-4565-88D2-03C3522A11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34B55-79B4-4935-B690-CDDFD14CEE71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4F3CB-1126-4EC1-ACEF-2B0FFD1D92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DDF74-0A08-443D-938C-3C266F2567D6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A65FD-B2C8-4F3F-A98F-5C3D044A27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459F5-7A03-4266-954C-9DE0CC169ECA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EE1E0-681C-419A-AA1F-3C14D1CC46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6B394-396F-4703-B57A-FA82EF68C3D4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7F7E7-B8A1-4D10-ADC0-D7ACD79572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483A1-725F-41DC-9904-4D6A5DC4538F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2FFEE-D16D-4A34-B0E5-51D8C9BFAE3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2C757-F100-4919-9627-00260115EB4F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7335A-E939-4A89-B0C4-7E47E78920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6E84D-0AC6-4F94-BF75-5ADA276DB606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2C553-5C13-4378-A08E-BCB00E8B6D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BBDDB-F3BB-4A12-A016-561DC4A9489F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5B39F-8A6C-4983-A43A-35AE061B94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422B0-F7DF-4D84-AD84-F085BC78F125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F68EB-A4D9-48FE-B62E-F47A3846A3F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E3622-36B6-4FF0-8E4B-2DD245FBB362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1917F-E5EC-46C2-BC88-F8C491AA6C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fld id="{DCC6294D-D5D8-4F87-ABD0-1C5178FE9512}" type="datetime1">
              <a:rPr lang="ru-RU" smtClean="0"/>
              <a:pPr>
                <a:defRPr/>
              </a:pPr>
              <a:t>13.10.2024</a:t>
            </a:fld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DDD35C0-C0F7-440B-8472-80B22DF5CC8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s.ifmo.ru/book/445/osnovy_modelirovaniya_diskretnyh_sistem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ifmo.ru/book/686/modelirovanie:_zadachi,_zadaniya,_testy.htm" TargetMode="External"/><Relationship Id="rId2" Type="http://schemas.openxmlformats.org/officeDocument/2006/relationships/hyperlink" Target="https://books.ifmo.ru/book/445/osnovy_modelirovaniya_diskretnyh_sistem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3.wmf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24" Type="http://schemas.openxmlformats.org/officeDocument/2006/relationships/image" Target="../media/image11.png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2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0.wmf"/><Relationship Id="rId26" Type="http://schemas.openxmlformats.org/officeDocument/2006/relationships/image" Target="../media/image23.png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8.bin"/><Relationship Id="rId25" Type="http://schemas.openxmlformats.org/officeDocument/2006/relationships/image" Target="../media/image22.png"/><Relationship Id="rId2" Type="http://schemas.openxmlformats.org/officeDocument/2006/relationships/image" Target="../media/image110.png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25.png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1313765"/>
            <a:ext cx="8420100" cy="1470025"/>
          </a:xfrm>
        </p:spPr>
        <p:txBody>
          <a:bodyPr/>
          <a:lstStyle/>
          <a:p>
            <a:pPr eaLnBrk="1" hangingPunct="1"/>
            <a:r>
              <a:rPr lang="ru-RU" sz="4800" b="1" dirty="0">
                <a:solidFill>
                  <a:srgbClr val="CC3300"/>
                </a:solidFill>
                <a:latin typeface="Times New Roman" pitchFamily="18" charset="0"/>
              </a:rPr>
              <a:t>«Моделирование»</a:t>
            </a:r>
            <a:endParaRPr lang="ru-RU" sz="4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675" y="2843935"/>
            <a:ext cx="9440863" cy="2933468"/>
          </a:xfrm>
        </p:spPr>
        <p:txBody>
          <a:bodyPr/>
          <a:lstStyle/>
          <a:p>
            <a:pPr algn="l" eaLnBrk="1" hangingPunct="1">
              <a:spcAft>
                <a:spcPts val="0"/>
              </a:spcAft>
            </a:pPr>
            <a:r>
              <a:rPr lang="ru-RU" sz="2400" b="1" dirty="0">
                <a:latin typeface="Times New Roman" pitchFamily="18" charset="0"/>
              </a:rPr>
              <a:t>Лектор:   	АЛИЕВ Тауфик Измайлович, 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ru-RU" sz="2400" b="1" i="1" dirty="0">
                <a:latin typeface="Times New Roman" pitchFamily="18" charset="0"/>
              </a:rPr>
              <a:t>		доктор технических наук, профессор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</a:pPr>
            <a:endParaRPr lang="ru-RU" sz="2400" b="1" i="1" dirty="0">
              <a:latin typeface="Times New Roman" pitchFamily="18" charset="0"/>
            </a:endParaRP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ru-RU" sz="2000" b="1" i="1" dirty="0">
                <a:latin typeface="Times New Roman" pitchFamily="18" charset="0"/>
              </a:rPr>
              <a:t>________________________________________________________________________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b="1" dirty="0">
                <a:solidFill>
                  <a:schemeClr val="accent2"/>
                </a:solidFill>
                <a:latin typeface="Times New Roman" pitchFamily="18" charset="0"/>
              </a:rPr>
              <a:t>Национальный исследовательский университет ИТМО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</a:rPr>
              <a:t> (</a:t>
            </a:r>
            <a:r>
              <a:rPr lang="ru-RU" sz="2800" b="1" dirty="0">
                <a:solidFill>
                  <a:schemeClr val="accent2"/>
                </a:solidFill>
                <a:latin typeface="Times New Roman" pitchFamily="18" charset="0"/>
              </a:rPr>
              <a:t>НИУ ИТМО)</a:t>
            </a:r>
          </a:p>
          <a:p>
            <a:pPr eaLnBrk="1" hangingPunct="1">
              <a:lnSpc>
                <a:spcPct val="90000"/>
              </a:lnSpc>
            </a:pPr>
            <a:endParaRPr lang="ru-RU" sz="2800" b="1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2400" b="1" i="1" dirty="0">
                <a:solidFill>
                  <a:srgbClr val="0070C0"/>
                </a:solidFill>
                <a:latin typeface="Times New Roman" pitchFamily="18" charset="0"/>
              </a:rPr>
              <a:t>Факультет программной инженерии и компьютерной техники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DEA2BA0-9251-E54B-A3BE-CCF128C77046}"/>
              </a:ext>
            </a:extLst>
          </p:cNvPr>
          <p:cNvGrpSpPr/>
          <p:nvPr/>
        </p:nvGrpSpPr>
        <p:grpSpPr>
          <a:xfrm>
            <a:off x="0" y="-8620"/>
            <a:ext cx="9905999" cy="1232375"/>
            <a:chOff x="0" y="-1"/>
            <a:chExt cx="9905999" cy="1232375"/>
          </a:xfrm>
        </p:grpSpPr>
        <p:pic>
          <p:nvPicPr>
            <p:cNvPr id="5" name="Рисунок 4" descr="itmo_horiz_blue_rus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905999" cy="1232375"/>
            </a:xfrm>
            <a:prstGeom prst="rect">
              <a:avLst/>
            </a:prstGeom>
          </p:spPr>
        </p:pic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33B10E41-62DE-A427-7A86-9833C9371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20"/>
              <a:ext cx="2679628" cy="1223754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91B9D5-C73C-4E07-905F-F24B9F841C17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675" y="301892"/>
            <a:ext cx="9518650" cy="47625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4. АНАЛИЗ СВОЙСТВ БАЗОВЫХ МОДЕЛЕЙ (СМО)</a:t>
            </a:r>
            <a:endParaRPr lang="ru-RU" sz="2400" b="1" dirty="0">
              <a:solidFill>
                <a:srgbClr val="CC3300"/>
              </a:solidFill>
              <a:latin typeface="Times New Roman" pitchFamily="18" charset="0"/>
              <a:hlinkClick r:id="" action="ppaction://noaction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542509" y="1109640"/>
            <a:ext cx="8868191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 базовых моделей с однородным потоком заявок и накопителем неограниченной емкости</a:t>
            </a:r>
          </a:p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</a:p>
          <a:p>
            <a:pPr marL="457200" indent="-457200" algn="l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Многоканальные системы с однородным потоком заявок</a:t>
            </a:r>
          </a:p>
          <a:p>
            <a:pPr marL="457200" indent="-457200" algn="l">
              <a:buFont typeface="+mj-lt"/>
              <a:buAutoNum type="arabicPeriod"/>
            </a:pPr>
            <a:endParaRPr lang="ru-RU" sz="2000" b="1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41550" y="6245225"/>
            <a:ext cx="5022850" cy="476250"/>
          </a:xfrm>
          <a:noFill/>
        </p:spPr>
        <p:txBody>
          <a:bodyPr/>
          <a:lstStyle/>
          <a:p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DF9CF89-0691-E93C-3B5F-AD83318385EB}"/>
              </a:ext>
            </a:extLst>
          </p:cNvPr>
          <p:cNvSpPr txBox="1">
            <a:spLocks/>
          </p:cNvSpPr>
          <p:nvPr/>
        </p:nvSpPr>
        <p:spPr bwMode="auto">
          <a:xfrm>
            <a:off x="450295" y="3938279"/>
            <a:ext cx="8958200" cy="1785976"/>
          </a:xfrm>
          <a:prstGeom prst="rect">
            <a:avLst/>
          </a:prstGeom>
          <a:noFill/>
          <a:ln w="15875">
            <a:solidFill>
              <a:srgbClr val="0033CC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sz="1800" b="1" u="sng" dirty="0"/>
              <a:t>Литература</a:t>
            </a:r>
            <a:br>
              <a:rPr lang="ru-RU" sz="1800" b="1" u="sng" dirty="0"/>
            </a:br>
            <a:r>
              <a:rPr lang="ru-RU" sz="1800" u="sng" dirty="0"/>
              <a:t>для самостоятельной подготовки</a:t>
            </a:r>
            <a:r>
              <a:rPr lang="ru-RU" sz="1800" b="1" u="sng" dirty="0"/>
              <a:t> </a:t>
            </a:r>
            <a:endParaRPr lang="ru-RU" sz="1800" u="sng" kern="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ru-RU" sz="1800" kern="0" dirty="0">
                <a:latin typeface="Times New Roman" pitchFamily="18" charset="0"/>
                <a:cs typeface="Times New Roman" pitchFamily="18" charset="0"/>
              </a:rPr>
              <a:t>1. Алиев Т.И. Основы моделирования дискретных систем. – СПб: СПбГУ ИТМО, 2009. – 363 с. </a:t>
            </a:r>
            <a:r>
              <a:rPr lang="ru-RU" sz="18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8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Раздел 4</a:t>
            </a:r>
            <a:r>
              <a:rPr lang="ru-RU" sz="18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«Аналитическое моделирование</a:t>
            </a:r>
            <a:r>
              <a:rPr lang="ru-RU" sz="1800" b="1" i="1" ker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», параграфы 4.1 и 4.2)</a:t>
            </a:r>
            <a:endParaRPr lang="ru-RU" sz="1800" b="1" i="1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sz="1800" kern="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https://books.ifmo.ru/book/445/osnovy_modelirovaniya_diskretnyh_sistem.htm</a:t>
            </a:r>
            <a:r>
              <a:rPr lang="ru-RU" sz="1800" kern="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7981D-DD5D-4962-B004-F19C099A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dirty="0"/>
              <a:t>Литература</a:t>
            </a:r>
            <a:br>
              <a:rPr lang="ru-RU" sz="3200" b="1" dirty="0"/>
            </a:br>
            <a:r>
              <a:rPr lang="ru-RU" sz="2800" dirty="0"/>
              <a:t>для самостоятельной подготовки</a:t>
            </a:r>
            <a:r>
              <a:rPr lang="ru-RU" sz="3200" b="1" dirty="0"/>
              <a:t> </a:t>
            </a:r>
            <a:r>
              <a:rPr lang="ru-RU" sz="3200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3AAACF-9372-4116-9379-421D342DD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85" y="1600200"/>
            <a:ext cx="9316035" cy="322395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1. Алиев Т.И. Основы моделирования дискретных систем. – СПб: СПбГУ ИТМО, 2009. – 363 с. </a:t>
            </a:r>
            <a:r>
              <a:rPr lang="ru-RU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(раздел 4 «Аналитическое моделирование», параграфы 4.1 – 4.2)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https://books.ifmo.ru/book/445/osnovy_modelirovaniya_diskretnyh_sistem.htm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hangingPunct="1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2. Алиев Т.И., Муравьева-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Витковская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Л.А., Соснин В.В. Моделирование: задачи, задания, тесты. Учебное пособие. - СПб.: НИУ ИТМО, 2011. – 197 с.</a:t>
            </a:r>
          </a:p>
          <a:p>
            <a:pPr marL="0" indent="0" eaLnBrk="1" hangingPunct="1">
              <a:buNone/>
            </a:pP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раздел 1</a:t>
            </a:r>
            <a:r>
              <a:rPr lang="ru-RU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параграф 1.3 пункты 1.3.1 – 1.3.3</a:t>
            </a: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   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раздел 2 </a:t>
            </a:r>
            <a:r>
              <a:rPr lang="ru-RU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параграф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2.2</a:t>
            </a: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    </a:t>
            </a:r>
          </a:p>
          <a:p>
            <a:pPr marL="0" indent="0" eaLnBrk="1" hangingPunct="1">
              <a:buNone/>
            </a:pP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раздел 4</a:t>
            </a:r>
            <a:r>
              <a:rPr lang="ru-RU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параграф 4.4</a:t>
            </a:r>
            <a:r>
              <a:rPr lang="ru-RU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https://books.ifmo.ru/book/686/modelirovanie:_zadachi,_zadaniya,_testy.htm</a:t>
            </a:r>
            <a:endParaRPr lang="ru-RU" sz="2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BFB2D0-704D-4086-B09C-18E58E7F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«Моделирование»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F10258-E203-462E-B94F-BBCA55D3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908D93-475E-4C84-BCD4-79A3215EF541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87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87F1-8792-4D9B-8E4C-0A153446BBF7}" type="slidenum">
              <a:rPr lang="ru-RU"/>
              <a:pPr/>
              <a:t>4</a:t>
            </a:fld>
            <a:endParaRPr lang="ru-RU" dirty="0"/>
          </a:p>
        </p:txBody>
      </p:sp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4860634" y="-18466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5" name="Нижний колонтитул 5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131092" name="Rectangle 20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5" name="Text Box 3">
            <a:extLst>
              <a:ext uri="{FF2B5EF4-FFF2-40B4-BE49-F238E27FC236}">
                <a16:creationId xmlns:a16="http://schemas.microsoft.com/office/drawing/2014/main" id="{40379936-862E-4547-AB12-BE1489727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485" y="482768"/>
            <a:ext cx="92260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lvl="1"/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 базовых моделей с однородным потоком заявок и накопителем неограниченной емкости</a:t>
            </a:r>
          </a:p>
        </p:txBody>
      </p:sp>
      <p:grpSp>
        <p:nvGrpSpPr>
          <p:cNvPr id="32" name="Группа 31"/>
          <p:cNvGrpSpPr/>
          <p:nvPr/>
        </p:nvGrpSpPr>
        <p:grpSpPr>
          <a:xfrm>
            <a:off x="272481" y="1493785"/>
            <a:ext cx="3860243" cy="421242"/>
            <a:chOff x="446134" y="1619508"/>
            <a:chExt cx="3860243" cy="421242"/>
          </a:xfrm>
        </p:grpSpPr>
        <p:graphicFrame>
          <p:nvGraphicFramePr>
            <p:cNvPr id="191496" name="Object 8"/>
            <p:cNvGraphicFramePr>
              <a:graphicFrameLocks noChangeAspect="1"/>
            </p:cNvGraphicFramePr>
            <p:nvPr/>
          </p:nvGraphicFramePr>
          <p:xfrm>
            <a:off x="2471359" y="1664513"/>
            <a:ext cx="1835018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Формула" r:id="rId2" imgW="1028700" imgH="228600" progId="">
                    <p:embed/>
                  </p:oleObj>
                </mc:Choice>
                <mc:Fallback>
                  <p:oleObj name="Формула" r:id="rId2" imgW="1028700" imgH="228600" progId="">
                    <p:embed/>
                    <p:pic>
                      <p:nvPicPr>
                        <p:cNvPr id="19149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359" y="1664513"/>
                          <a:ext cx="1835018" cy="376237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1517" name="Rectangle 29"/>
            <p:cNvSpPr>
              <a:spLocks noChangeArrowheads="1"/>
            </p:cNvSpPr>
            <p:nvPr/>
          </p:nvSpPr>
          <p:spPr bwMode="auto">
            <a:xfrm>
              <a:off x="446134" y="1619508"/>
              <a:ext cx="153017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1) нагрузка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0ED335B0-BEA8-A331-A170-B4D93566F591}"/>
              </a:ext>
            </a:extLst>
          </p:cNvPr>
          <p:cNvGrpSpPr/>
          <p:nvPr/>
        </p:nvGrpSpPr>
        <p:grpSpPr>
          <a:xfrm>
            <a:off x="272480" y="3432175"/>
            <a:ext cx="4805683" cy="369332"/>
            <a:chOff x="272480" y="3432175"/>
            <a:chExt cx="4805683" cy="369332"/>
          </a:xfrm>
        </p:grpSpPr>
        <p:graphicFrame>
          <p:nvGraphicFramePr>
            <p:cNvPr id="191502" name="Object 14"/>
            <p:cNvGraphicFramePr>
              <a:graphicFrameLocks noChangeAspect="1"/>
            </p:cNvGraphicFramePr>
            <p:nvPr/>
          </p:nvGraphicFramePr>
          <p:xfrm>
            <a:off x="3827875" y="3441467"/>
            <a:ext cx="1250288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Формула" r:id="rId4" imgW="685800" imgH="190500" progId="">
                    <p:embed/>
                  </p:oleObj>
                </mc:Choice>
                <mc:Fallback>
                  <p:oleObj name="Формула" r:id="rId4" imgW="685800" imgH="190500" progId="">
                    <p:embed/>
                    <p:pic>
                      <p:nvPicPr>
                        <p:cNvPr id="19150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7875" y="3441467"/>
                          <a:ext cx="1250288" cy="32067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Rectangle 29"/>
            <p:cNvSpPr>
              <a:spLocks noChangeArrowheads="1"/>
            </p:cNvSpPr>
            <p:nvPr/>
          </p:nvSpPr>
          <p:spPr bwMode="auto">
            <a:xfrm>
              <a:off x="272480" y="3432175"/>
              <a:ext cx="3195355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ru-RU" dirty="0">
                  <a:latin typeface="Times New Roman" pitchFamily="18" charset="0"/>
                  <a:cs typeface="Times New Roman" pitchFamily="18" charset="0"/>
                </a:rPr>
                <a:t>) среднее время пребывания</a:t>
              </a:r>
              <a:endPara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Группа 38"/>
          <p:cNvGrpSpPr/>
          <p:nvPr/>
        </p:nvGrpSpPr>
        <p:grpSpPr>
          <a:xfrm>
            <a:off x="256262" y="3882225"/>
            <a:ext cx="4591739" cy="414337"/>
            <a:chOff x="446134" y="4409818"/>
            <a:chExt cx="4591739" cy="414337"/>
          </a:xfrm>
        </p:grpSpPr>
        <p:graphicFrame>
          <p:nvGraphicFramePr>
            <p:cNvPr id="191504" name="Object 16"/>
            <p:cNvGraphicFramePr>
              <a:graphicFrameLocks noChangeAspect="1"/>
            </p:cNvGraphicFramePr>
            <p:nvPr/>
          </p:nvGraphicFramePr>
          <p:xfrm>
            <a:off x="4062752" y="4409818"/>
            <a:ext cx="975121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Формула" r:id="rId6" imgW="508000" imgH="228600" progId="">
                    <p:embed/>
                  </p:oleObj>
                </mc:Choice>
                <mc:Fallback>
                  <p:oleObj name="Формула" r:id="rId6" imgW="508000" imgH="228600" progId="">
                    <p:embed/>
                    <p:pic>
                      <p:nvPicPr>
                        <p:cNvPr id="19150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752" y="4409818"/>
                          <a:ext cx="975121" cy="407988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Rectangle 29"/>
            <p:cNvSpPr>
              <a:spLocks noChangeArrowheads="1"/>
            </p:cNvSpPr>
            <p:nvPr/>
          </p:nvSpPr>
          <p:spPr bwMode="auto">
            <a:xfrm>
              <a:off x="446134" y="4454823"/>
              <a:ext cx="346538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r>
                <a:rPr lang="ru-RU" dirty="0">
                  <a:latin typeface="Times New Roman" pitchFamily="18" charset="0"/>
                  <a:cs typeface="Times New Roman" pitchFamily="18" charset="0"/>
                </a:rPr>
                <a:t>) средняя длина очереди</a:t>
              </a:r>
              <a:endPara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0" name="Группа 39"/>
          <p:cNvGrpSpPr/>
          <p:nvPr/>
        </p:nvGrpSpPr>
        <p:grpSpPr>
          <a:xfrm>
            <a:off x="272480" y="4422285"/>
            <a:ext cx="4690748" cy="411162"/>
            <a:chOff x="446133" y="5043063"/>
            <a:chExt cx="4690748" cy="411162"/>
          </a:xfrm>
        </p:grpSpPr>
        <p:graphicFrame>
          <p:nvGraphicFramePr>
            <p:cNvPr id="191506" name="Object 18"/>
            <p:cNvGraphicFramePr>
              <a:graphicFrameLocks noChangeAspect="1"/>
            </p:cNvGraphicFramePr>
            <p:nvPr/>
          </p:nvGraphicFramePr>
          <p:xfrm>
            <a:off x="4046533" y="5043063"/>
            <a:ext cx="1090348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Формула" r:id="rId8" imgW="558800" imgH="228600" progId="">
                    <p:embed/>
                  </p:oleObj>
                </mc:Choice>
                <mc:Fallback>
                  <p:oleObj name="Формула" r:id="rId8" imgW="558800" imgH="228600" progId="">
                    <p:embed/>
                    <p:pic>
                      <p:nvPicPr>
                        <p:cNvPr id="19150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6533" y="5043063"/>
                          <a:ext cx="1090348" cy="411162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Rectangle 29"/>
            <p:cNvSpPr>
              <a:spLocks noChangeArrowheads="1"/>
            </p:cNvSpPr>
            <p:nvPr/>
          </p:nvSpPr>
          <p:spPr bwMode="auto">
            <a:xfrm>
              <a:off x="446133" y="5052355"/>
              <a:ext cx="3735415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ru-RU" dirty="0">
                  <a:latin typeface="Times New Roman" pitchFamily="18" charset="0"/>
                  <a:cs typeface="Times New Roman" pitchFamily="18" charset="0"/>
                </a:rPr>
                <a:t>) среднее число заявок в системе</a:t>
              </a:r>
              <a:endPara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272481" y="2942076"/>
            <a:ext cx="3915434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4) среднее время ожидания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2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endParaRPr lang="ru-RU" sz="24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81953" y="3023955"/>
            <a:ext cx="420997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AE483AB-593D-CF0B-6180-6B7C9DE9BFCB}"/>
              </a:ext>
            </a:extLst>
          </p:cNvPr>
          <p:cNvGrpSpPr/>
          <p:nvPr/>
        </p:nvGrpSpPr>
        <p:grpSpPr>
          <a:xfrm>
            <a:off x="272481" y="2118130"/>
            <a:ext cx="4005444" cy="369332"/>
            <a:chOff x="272481" y="2118130"/>
            <a:chExt cx="4005444" cy="369332"/>
          </a:xfrm>
        </p:grpSpPr>
        <p:graphicFrame>
          <p:nvGraphicFramePr>
            <p:cNvPr id="191498" name="Object 10"/>
            <p:cNvGraphicFramePr>
              <a:graphicFrameLocks noChangeAspect="1"/>
            </p:cNvGraphicFramePr>
            <p:nvPr/>
          </p:nvGraphicFramePr>
          <p:xfrm>
            <a:off x="2288125" y="2133147"/>
            <a:ext cx="198980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Формула" r:id="rId10" imgW="1244600" imgH="228600" progId="">
                    <p:embed/>
                  </p:oleObj>
                </mc:Choice>
                <mc:Fallback>
                  <p:oleObj name="Формула" r:id="rId10" imgW="1244600" imgH="228600" progId="">
                    <p:embed/>
                    <p:pic>
                      <p:nvPicPr>
                        <p:cNvPr id="19149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8125" y="2133147"/>
                          <a:ext cx="1989800" cy="33655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Rectangle 29"/>
            <p:cNvSpPr>
              <a:spLocks noChangeArrowheads="1"/>
            </p:cNvSpPr>
            <p:nvPr/>
          </p:nvSpPr>
          <p:spPr bwMode="auto">
            <a:xfrm>
              <a:off x="272481" y="2118130"/>
              <a:ext cx="153017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2) загрузка</a:t>
              </a:r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272480" y="2610650"/>
            <a:ext cx="4516719" cy="377592"/>
            <a:chOff x="446133" y="2736373"/>
            <a:chExt cx="4516719" cy="377592"/>
          </a:xfrm>
        </p:grpSpPr>
        <p:sp>
          <p:nvSpPr>
            <p:cNvPr id="54" name="Rectangle 29"/>
            <p:cNvSpPr>
              <a:spLocks noChangeArrowheads="1"/>
            </p:cNvSpPr>
            <p:nvPr/>
          </p:nvSpPr>
          <p:spPr bwMode="auto">
            <a:xfrm>
              <a:off x="446133" y="2736373"/>
              <a:ext cx="346538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3) коэффициент простоя</a:t>
              </a:r>
            </a:p>
          </p:txBody>
        </p:sp>
        <p:graphicFrame>
          <p:nvGraphicFramePr>
            <p:cNvPr id="131091" name="Object 19"/>
            <p:cNvGraphicFramePr>
              <a:graphicFrameLocks noChangeAspect="1"/>
            </p:cNvGraphicFramePr>
            <p:nvPr/>
          </p:nvGraphicFramePr>
          <p:xfrm>
            <a:off x="4017747" y="2798930"/>
            <a:ext cx="945105" cy="315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660113" imgH="215806" progId="">
                    <p:embed/>
                  </p:oleObj>
                </mc:Choice>
                <mc:Fallback>
                  <p:oleObj r:id="rId12" imgW="660113" imgH="215806" progId="">
                    <p:embed/>
                    <p:pic>
                      <p:nvPicPr>
                        <p:cNvPr id="13109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747" y="2798930"/>
                          <a:ext cx="945105" cy="3150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" name="Группа 71"/>
          <p:cNvGrpSpPr/>
          <p:nvPr/>
        </p:nvGrpSpPr>
        <p:grpSpPr>
          <a:xfrm>
            <a:off x="4637965" y="1503077"/>
            <a:ext cx="1755195" cy="1015952"/>
            <a:chOff x="4811618" y="1628800"/>
            <a:chExt cx="1755195" cy="1015952"/>
          </a:xfrm>
        </p:grpSpPr>
        <p:sp>
          <p:nvSpPr>
            <p:cNvPr id="70" name="TextBox 69"/>
            <p:cNvSpPr txBox="1"/>
            <p:nvPr/>
          </p:nvSpPr>
          <p:spPr>
            <a:xfrm>
              <a:off x="4998004" y="1628800"/>
              <a:ext cx="94510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2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y </a:t>
              </a:r>
              <a:r>
                <a:rPr lang="en-US" sz="22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&gt;0)</a:t>
              </a:r>
              <a:endPara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811618" y="2213865"/>
              <a:ext cx="175519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(0 ≤ </a:t>
              </a:r>
              <a:r>
                <a:rPr lang="en-US" sz="22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 </a:t>
              </a:r>
              <a:r>
                <a:rPr lang="en-US" sz="22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≤ 1)</a:t>
              </a:r>
              <a:endParaRPr lang="ru-RU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6F4CA02-52FC-4538-A31C-D75A4EBB172E}"/>
              </a:ext>
            </a:extLst>
          </p:cNvPr>
          <p:cNvGrpSpPr/>
          <p:nvPr/>
        </p:nvGrpSpPr>
        <p:grpSpPr>
          <a:xfrm>
            <a:off x="6573180" y="1421743"/>
            <a:ext cx="3060340" cy="1745828"/>
            <a:chOff x="6524717" y="2953926"/>
            <a:chExt cx="3198813" cy="1801615"/>
          </a:xfrm>
        </p:grpSpPr>
        <p:grpSp>
          <p:nvGrpSpPr>
            <p:cNvPr id="69" name="Группа 68"/>
            <p:cNvGrpSpPr/>
            <p:nvPr/>
          </p:nvGrpSpPr>
          <p:grpSpPr>
            <a:xfrm>
              <a:off x="6524717" y="2953926"/>
              <a:ext cx="3198813" cy="1801615"/>
              <a:chOff x="6393160" y="2818912"/>
              <a:chExt cx="3198813" cy="1801615"/>
            </a:xfrm>
          </p:grpSpPr>
          <p:sp>
            <p:nvSpPr>
              <p:cNvPr id="44" name="Rectangle 9"/>
              <p:cNvSpPr>
                <a:spLocks noChangeArrowheads="1"/>
              </p:cNvSpPr>
              <p:nvPr/>
            </p:nvSpPr>
            <p:spPr bwMode="auto">
              <a:xfrm>
                <a:off x="6393160" y="2818912"/>
                <a:ext cx="3198813" cy="180161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5" name="Text Box 10"/>
              <p:cNvSpPr txBox="1">
                <a:spLocks noChangeArrowheads="1"/>
              </p:cNvSpPr>
              <p:nvPr/>
            </p:nvSpPr>
            <p:spPr bwMode="auto">
              <a:xfrm>
                <a:off x="8321856" y="3224010"/>
                <a:ext cx="542751" cy="48846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600"/>
                  </a:spcAft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</a:t>
                </a:r>
                <a:r>
                  <a:rPr lang="ru-RU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6" name="Line 11"/>
              <p:cNvSpPr>
                <a:spLocks noChangeShapeType="1"/>
              </p:cNvSpPr>
              <p:nvPr/>
            </p:nvSpPr>
            <p:spPr bwMode="auto">
              <a:xfrm>
                <a:off x="8870162" y="3474726"/>
                <a:ext cx="40813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7" name="Line 12"/>
              <p:cNvSpPr>
                <a:spLocks noChangeShapeType="1"/>
              </p:cNvSpPr>
              <p:nvPr/>
            </p:nvSpPr>
            <p:spPr bwMode="auto">
              <a:xfrm>
                <a:off x="7282076" y="3759085"/>
                <a:ext cx="2136" cy="2488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8" name="Line 13"/>
              <p:cNvSpPr>
                <a:spLocks noChangeShapeType="1"/>
              </p:cNvSpPr>
              <p:nvPr/>
            </p:nvSpPr>
            <p:spPr bwMode="auto">
              <a:xfrm>
                <a:off x="7420969" y="3759085"/>
                <a:ext cx="0" cy="2488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" name="Line 14"/>
              <p:cNvSpPr>
                <a:spLocks noChangeShapeType="1"/>
              </p:cNvSpPr>
              <p:nvPr/>
            </p:nvSpPr>
            <p:spPr bwMode="auto">
              <a:xfrm>
                <a:off x="7557725" y="3759085"/>
                <a:ext cx="0" cy="24880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 flipH="1">
                <a:off x="7006427" y="4007890"/>
                <a:ext cx="55984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1" name="Line 16"/>
              <p:cNvSpPr>
                <a:spLocks noChangeShapeType="1"/>
              </p:cNvSpPr>
              <p:nvPr/>
            </p:nvSpPr>
            <p:spPr bwMode="auto">
              <a:xfrm flipH="1">
                <a:off x="7006427" y="3757256"/>
                <a:ext cx="55984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1" name="Line 17"/>
              <p:cNvSpPr>
                <a:spLocks noChangeShapeType="1"/>
              </p:cNvSpPr>
              <p:nvPr/>
            </p:nvSpPr>
            <p:spPr bwMode="auto">
              <a:xfrm flipH="1">
                <a:off x="6630347" y="3883488"/>
                <a:ext cx="51497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" name="Line 18"/>
              <p:cNvSpPr>
                <a:spLocks noChangeShapeType="1"/>
              </p:cNvSpPr>
              <p:nvPr/>
            </p:nvSpPr>
            <p:spPr bwMode="auto">
              <a:xfrm>
                <a:off x="7535353" y="3876170"/>
                <a:ext cx="41017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67" name="Text Box 20"/>
              <p:cNvSpPr txBox="1">
                <a:spLocks noChangeArrowheads="1"/>
              </p:cNvSpPr>
              <p:nvPr/>
            </p:nvSpPr>
            <p:spPr bwMode="auto">
              <a:xfrm>
                <a:off x="8292789" y="2836258"/>
                <a:ext cx="544888" cy="3677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Aft>
                    <a:spcPts val="600"/>
                  </a:spcAft>
                </a:pP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i="1" dirty="0">
                    <a:sym typeface="Symbol" pitchFamily="18" charset="2"/>
                  </a:rPr>
                  <a:t></a:t>
                </a:r>
                <a:r>
                  <a:rPr lang="ru-RU" i="1" baseline="-25000" dirty="0" err="1"/>
                  <a:t>b</a:t>
                </a:r>
                <a:endParaRPr lang="ru-RU" i="1" baseline="-25000" dirty="0"/>
              </a:p>
            </p:txBody>
          </p:sp>
          <p:sp>
            <p:nvSpPr>
              <p:cNvPr id="68" name="Text Box 22"/>
              <p:cNvSpPr txBox="1">
                <a:spLocks noChangeArrowheads="1"/>
              </p:cNvSpPr>
              <p:nvPr/>
            </p:nvSpPr>
            <p:spPr bwMode="auto">
              <a:xfrm>
                <a:off x="6393161" y="3570299"/>
                <a:ext cx="544888" cy="393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000" tIns="10800" rIns="18000" bIns="10800"/>
              <a:lstStyle/>
              <a:p>
                <a:pPr algn="ctr">
                  <a:spcAft>
                    <a:spcPts val="600"/>
                  </a:spcAft>
                </a:pPr>
                <a:r>
                  <a:rPr lang="ru-RU" i="1" dirty="0">
                    <a:sym typeface="Symbol" pitchFamily="18" charset="2"/>
                  </a:rPr>
                  <a:t></a:t>
                </a:r>
                <a:endParaRPr lang="ru-RU" i="1" dirty="0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6170D90-4745-44B4-AAC8-FF9E1CCD599D}"/>
                </a:ext>
              </a:extLst>
            </p:cNvPr>
            <p:cNvSpPr txBox="1"/>
            <p:nvPr/>
          </p:nvSpPr>
          <p:spPr>
            <a:xfrm>
              <a:off x="7113711" y="3474326"/>
              <a:ext cx="650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dirty="0">
                  <a:sym typeface="Symbol" panose="05050102010706020507" pitchFamily="18" charset="2"/>
                </a:rPr>
                <a:t></a:t>
              </a:r>
              <a:endParaRPr lang="ru-RU" dirty="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EAADFF07-4870-9B07-59FF-675914413957}"/>
              </a:ext>
            </a:extLst>
          </p:cNvPr>
          <p:cNvGrpSpPr/>
          <p:nvPr/>
        </p:nvGrpSpPr>
        <p:grpSpPr>
          <a:xfrm>
            <a:off x="7227360" y="4699478"/>
            <a:ext cx="1866100" cy="1204797"/>
            <a:chOff x="7227360" y="4699478"/>
            <a:chExt cx="1866100" cy="1204797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0376D19-DBA0-4ACE-8E99-209096A64AA5}"/>
                </a:ext>
              </a:extLst>
            </p:cNvPr>
            <p:cNvSpPr txBox="1"/>
            <p:nvPr/>
          </p:nvSpPr>
          <p:spPr>
            <a:xfrm>
              <a:off x="7710623" y="4699478"/>
              <a:ext cx="823043" cy="349702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b="1" u="sng" dirty="0">
                  <a:latin typeface="Times New Roman" pitchFamily="18" charset="0"/>
                  <a:cs typeface="Times New Roman" pitchFamily="18" charset="0"/>
                </a:rPr>
                <a:t>M/G/1</a:t>
              </a:r>
              <a:endParaRPr lang="ru-RU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77" name="Object 19">
              <a:extLst>
                <a:ext uri="{FF2B5EF4-FFF2-40B4-BE49-F238E27FC236}">
                  <a16:creationId xmlns:a16="http://schemas.microsoft.com/office/drawing/2014/main" id="{C28791BC-5E5A-4CF7-AF00-20E13AB2DA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27360" y="5094185"/>
            <a:ext cx="1866100" cy="8100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231366" imgH="533169" progId="">
                    <p:embed/>
                  </p:oleObj>
                </mc:Choice>
                <mc:Fallback>
                  <p:oleObj r:id="rId14" imgW="1231366" imgH="533169" progId="">
                    <p:embed/>
                    <p:pic>
                      <p:nvPicPr>
                        <p:cNvPr id="77" name="Object 19">
                          <a:extLst>
                            <a:ext uri="{FF2B5EF4-FFF2-40B4-BE49-F238E27FC236}">
                              <a16:creationId xmlns:a16="http://schemas.microsoft.com/office/drawing/2014/main" id="{C28791BC-5E5A-4CF7-AF00-20E13AB2DA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7360" y="5094185"/>
                          <a:ext cx="1866100" cy="810090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" name="Rectangle 3">
            <a:extLst>
              <a:ext uri="{FF2B5EF4-FFF2-40B4-BE49-F238E27FC236}">
                <a16:creationId xmlns:a16="http://schemas.microsoft.com/office/drawing/2014/main" id="{D1D875D5-831D-4BF6-B192-BC71E0213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98630"/>
            <a:ext cx="9518650" cy="49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4. Анализ свойств базовых моделей (СМО)</a:t>
            </a:r>
            <a:endParaRPr kumimoji="0" lang="ru-RU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graphicFrame>
        <p:nvGraphicFramePr>
          <p:cNvPr id="2" name="Object 13">
            <a:extLst>
              <a:ext uri="{FF2B5EF4-FFF2-40B4-BE49-F238E27FC236}">
                <a16:creationId xmlns:a16="http://schemas.microsoft.com/office/drawing/2014/main" id="{7871A58D-5611-5351-8C97-6CBE26967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8317" y="3716824"/>
          <a:ext cx="1890208" cy="747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31366" imgH="482391" progId="">
                  <p:embed/>
                </p:oleObj>
              </mc:Choice>
              <mc:Fallback>
                <p:oleObj r:id="rId16" imgW="1231366" imgH="482391" progId="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7871A58D-5611-5351-8C97-6CBE26967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8317" y="3716824"/>
                        <a:ext cx="1890208" cy="74729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">
            <a:extLst>
              <a:ext uri="{FF2B5EF4-FFF2-40B4-BE49-F238E27FC236}">
                <a16:creationId xmlns:a16="http://schemas.microsoft.com/office/drawing/2014/main" id="{A120CB6E-8B81-9B57-1EC0-342F76BA2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088" y="2562261"/>
            <a:ext cx="519256" cy="473337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ru-RU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52EDE92-4963-C7F6-6554-44ECF28B81FA}"/>
              </a:ext>
            </a:extLst>
          </p:cNvPr>
          <p:cNvCxnSpPr>
            <a:cxnSpLocks/>
          </p:cNvCxnSpPr>
          <p:nvPr/>
        </p:nvCxnSpPr>
        <p:spPr bwMode="auto">
          <a:xfrm>
            <a:off x="8103351" y="2073125"/>
            <a:ext cx="0" cy="7258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Line 18">
            <a:extLst>
              <a:ext uri="{FF2B5EF4-FFF2-40B4-BE49-F238E27FC236}">
                <a16:creationId xmlns:a16="http://schemas.microsoft.com/office/drawing/2014/main" id="{B29CBEBE-B137-257F-1C28-061A21B5F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3350" y="2798930"/>
            <a:ext cx="31503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A96A37C5-5E3D-D4BE-0754-0A8B1CDAB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3350" y="2078850"/>
            <a:ext cx="304801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23309B84-C096-BA8A-E831-E616525AE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58445" y="2798930"/>
            <a:ext cx="39046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BC972-489E-3519-16AE-518442E7DA4C}"/>
              </a:ext>
            </a:extLst>
          </p:cNvPr>
          <p:cNvSpPr txBox="1"/>
          <p:nvPr/>
        </p:nvSpPr>
        <p:spPr>
          <a:xfrm>
            <a:off x="8418386" y="2168860"/>
            <a:ext cx="55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…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DA6E3BD3-FA20-75CB-1382-20FE91A1445A}"/>
              </a:ext>
            </a:extLst>
          </p:cNvPr>
          <p:cNvGrpSpPr/>
          <p:nvPr/>
        </p:nvGrpSpPr>
        <p:grpSpPr>
          <a:xfrm>
            <a:off x="4734342" y="3215094"/>
            <a:ext cx="3864063" cy="1242692"/>
            <a:chOff x="4734342" y="3215094"/>
            <a:chExt cx="3864063" cy="1242692"/>
          </a:xfrm>
        </p:grpSpPr>
        <p:graphicFrame>
          <p:nvGraphicFramePr>
            <p:cNvPr id="74" name="Object 11">
              <a:extLst>
                <a:ext uri="{FF2B5EF4-FFF2-40B4-BE49-F238E27FC236}">
                  <a16:creationId xmlns:a16="http://schemas.microsoft.com/office/drawing/2014/main" id="{AA44F021-A803-4316-B7C8-2C1453138D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18185" y="3738648"/>
            <a:ext cx="1058862" cy="719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710891" imgH="482391" progId="">
                    <p:embed/>
                  </p:oleObj>
                </mc:Choice>
                <mc:Fallback>
                  <p:oleObj r:id="rId18" imgW="710891" imgH="482391" progId="">
                    <p:embed/>
                    <p:pic>
                      <p:nvPicPr>
                        <p:cNvPr id="74" name="Object 11">
                          <a:extLst>
                            <a:ext uri="{FF2B5EF4-FFF2-40B4-BE49-F238E27FC236}">
                              <a16:creationId xmlns:a16="http://schemas.microsoft.com/office/drawing/2014/main" id="{AA44F021-A803-4316-B7C8-2C1453138D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8185" y="3738648"/>
                          <a:ext cx="1058862" cy="719138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DFF3C0C-9965-495B-A3BD-4F68B975C99C}"/>
                </a:ext>
              </a:extLst>
            </p:cNvPr>
            <p:cNvSpPr txBox="1"/>
            <p:nvPr/>
          </p:nvSpPr>
          <p:spPr>
            <a:xfrm>
              <a:off x="7711172" y="3312925"/>
              <a:ext cx="887233" cy="359517"/>
            </a:xfrm>
            <a:prstGeom prst="rect">
              <a:avLst/>
            </a:prstGeom>
            <a:solidFill>
              <a:srgbClr val="FFFF99"/>
            </a:solidFill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r>
                <a:rPr lang="en-US" b="1" u="sng" dirty="0">
                  <a:latin typeface="Times New Roman" pitchFamily="18" charset="0"/>
                  <a:cs typeface="Times New Roman" pitchFamily="18" charset="0"/>
                </a:rPr>
                <a:t>M/M/1</a:t>
              </a:r>
              <a:endParaRPr lang="ru-RU" sz="11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C454AF70-DA94-4F0F-6659-FE50A3D82E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34342" y="3215094"/>
              <a:ext cx="1755194" cy="690377"/>
            </a:xfrm>
            <a:prstGeom prst="straightConnector1">
              <a:avLst/>
            </a:prstGeom>
            <a:solidFill>
              <a:schemeClr val="accent1"/>
            </a:solidFill>
            <a:ln w="63500" cap="flat" cmpd="dbl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9B5CD535-6320-4CF7-D8AE-1A1CBFDEB098}"/>
              </a:ext>
            </a:extLst>
          </p:cNvPr>
          <p:cNvGrpSpPr/>
          <p:nvPr/>
        </p:nvGrpSpPr>
        <p:grpSpPr>
          <a:xfrm>
            <a:off x="92461" y="5004175"/>
            <a:ext cx="6300700" cy="1097721"/>
            <a:chOff x="92461" y="5004175"/>
            <a:chExt cx="6300700" cy="1097721"/>
          </a:xfrm>
        </p:grpSpPr>
        <p:grpSp>
          <p:nvGrpSpPr>
            <p:cNvPr id="42" name="Группа 41"/>
            <p:cNvGrpSpPr/>
            <p:nvPr/>
          </p:nvGrpSpPr>
          <p:grpSpPr>
            <a:xfrm>
              <a:off x="193675" y="5229200"/>
              <a:ext cx="6041478" cy="720080"/>
              <a:chOff x="5853100" y="4494387"/>
              <a:chExt cx="4540855" cy="720080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91508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9522605" y="4494387"/>
                  <a:ext cx="871350" cy="43088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Формула" r:id="rId20" imgW="406048" imgH="215713" progId="">
                          <p:embed/>
                        </p:oleObj>
                      </mc:Choice>
                      <mc:Fallback>
                        <p:oleObj name="Формула" r:id="rId20" imgW="406048" imgH="215713" progId="">
                          <p:embed/>
                          <p:pic>
                            <p:nvPicPr>
                              <p:cNvPr id="191508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522605" y="4494387"/>
                                <a:ext cx="871350" cy="430887"/>
                              </a:xfrm>
                              <a:prstGeom prst="rect">
                                <a:avLst/>
                              </a:prstGeom>
                              <a:solidFill>
                                <a:srgbClr val="FFCCCC"/>
                              </a:solidFill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91508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9522605" y="4494387"/>
                  <a:ext cx="871350" cy="43088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Формула" r:id="rId22" imgW="406048" imgH="215713" progId="">
                          <p:embed/>
                        </p:oleObj>
                      </mc:Choice>
                      <mc:Fallback>
                        <p:oleObj name="Формула" r:id="rId22" imgW="406048" imgH="215713" progId="">
                          <p:embed/>
                          <p:pic>
                            <p:nvPicPr>
                              <p:cNvPr id="191508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522605" y="4494387"/>
                                <a:ext cx="871350" cy="430887"/>
                              </a:xfrm>
                              <a:prstGeom prst="rect">
                                <a:avLst/>
                              </a:prstGeom>
                              <a:solidFill>
                                <a:srgbClr val="FFCCCC"/>
                              </a:solidFill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91516" name="Rectangle 28"/>
              <p:cNvSpPr>
                <a:spLocks noChangeArrowheads="1"/>
              </p:cNvSpPr>
              <p:nvPr/>
            </p:nvSpPr>
            <p:spPr bwMode="auto">
              <a:xfrm>
                <a:off x="6744478" y="4531085"/>
                <a:ext cx="184731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91527" name="Rectangle 39"/>
              <p:cNvSpPr>
                <a:spLocks noChangeArrowheads="1"/>
              </p:cNvSpPr>
              <p:nvPr/>
            </p:nvSpPr>
            <p:spPr bwMode="auto">
              <a:xfrm>
                <a:off x="6744478" y="4531085"/>
                <a:ext cx="184731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ru-RU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5853100" y="4524090"/>
                    <a:ext cx="3915435" cy="6903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square" lIns="36000" tIns="0" rIns="72000" bIns="36000" anchor="ctr">
                    <a:spAutoFit/>
                  </a:bodyPr>
                  <a:lstStyle/>
                  <a:p>
                    <a:pPr algn="l">
                      <a:lnSpc>
                        <a:spcPct val="100000"/>
                      </a:lnSpc>
                    </a:pPr>
                    <a:r>
                      <a:rPr lang="ru-RU" sz="2000" i="1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Условие отсутствия перегрузок</a:t>
                    </a:r>
                    <a:r>
                      <a:rPr lang="en-US" sz="2000" i="1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ru-RU" sz="2000" i="1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в системе:</a:t>
                    </a:r>
                  </a:p>
                  <a:p>
                    <a:pPr algn="l">
                      <a:spcBef>
                        <a:spcPts val="300"/>
                      </a:spcBef>
                    </a:pPr>
                    <a:r>
                      <a:rPr lang="ru-RU" sz="20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             </a:t>
                    </a:r>
                    <a:r>
                      <a:rPr lang="ru-RU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или </a:t>
                    </a:r>
                    <a:r>
                      <a:rPr lang="ru-RU" sz="20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en-US" sz="20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ru-RU" sz="20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en-US" sz="20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&lt;</a:t>
                    </a:r>
                    <a:r>
                      <a:rPr lang="ru-RU" sz="20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en-US" sz="20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N</a:t>
                    </a:r>
                    <a:r>
                      <a:rPr lang="ru-RU" sz="20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en-US" sz="20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(</a:t>
                    </a:r>
                    <a:r>
                      <a:rPr lang="ru-RU" sz="20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при </a:t>
                    </a:r>
                    <a:r>
                      <a:rPr lang="en-US" sz="2000" b="1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N</a:t>
                    </a:r>
                    <a:r>
                      <a:rPr lang="ru-RU" sz="20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=1</a:t>
                    </a:r>
                    <a:r>
                      <a:rPr lang="ru-RU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:</a:t>
                    </a:r>
                    <a:r>
                      <a:rPr lang="ru-RU" sz="2000" i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𝝀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&lt;</m:t>
                        </m:r>
                        <m:r>
                          <a:rPr lang="el-GR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𝝁</m:t>
                        </m:r>
                      </m:oMath>
                    </a14:m>
                    <a:r>
                      <a:rPr lang="ru-RU" sz="2000" b="1" i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ru-RU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66" name="Rectangle 2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853100" y="4524090"/>
                    <a:ext cx="3915435" cy="69037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342" t="-11504" b="-16814"/>
                    </a:stretch>
                  </a:blipFill>
                  <a:ln w="9525" algn="ctr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7AD2DD3-7F9D-925E-DD5F-F13A8CA25C1A}"/>
                </a:ext>
              </a:extLst>
            </p:cNvPr>
            <p:cNvSpPr/>
            <p:nvPr/>
          </p:nvSpPr>
          <p:spPr bwMode="auto">
            <a:xfrm>
              <a:off x="92461" y="5004175"/>
              <a:ext cx="6300700" cy="1097721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E448F4-3738-85AC-822E-CF34D159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«Моделирование»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30DAF1-83F5-6A63-7AA2-0C4D615F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E1917F-E5EC-46C2-BC88-F8C491AA6CDA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C2BFD00-1E66-4A8D-83FD-5E6BDAA822C1}"/>
              </a:ext>
            </a:extLst>
          </p:cNvPr>
          <p:cNvGrpSpPr/>
          <p:nvPr/>
        </p:nvGrpSpPr>
        <p:grpSpPr>
          <a:xfrm>
            <a:off x="7174799" y="3780268"/>
            <a:ext cx="2548731" cy="1133897"/>
            <a:chOff x="6861970" y="3793759"/>
            <a:chExt cx="2548731" cy="113389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9F8822-0401-1DD3-9173-9C2B9444D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1895" y="3793759"/>
              <a:ext cx="2408806" cy="113389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EB84BECE-803E-4AF9-E3F6-C250297E9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8320" y="4249366"/>
              <a:ext cx="519256" cy="473337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spcAft>
                  <a:spcPts val="600"/>
                </a:spcAft>
              </a:pPr>
              <a:r>
                <a:rPr lang="ru-RU" sz="2800" baseline="30000" dirty="0"/>
                <a:t>П</a:t>
              </a:r>
              <a:endParaRPr lang="ru-RU" sz="2800" dirty="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8357A2EF-FA79-E8E0-4FDF-745399992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89621" y="4492239"/>
              <a:ext cx="328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E7FB876C-58D8-B98A-D7B9-769EB8144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0816" y="4380553"/>
              <a:ext cx="2044" cy="2411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936FC2E4-E08E-BCFB-4DF9-B603E4DD8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3696" y="4380553"/>
              <a:ext cx="0" cy="2411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966D4CD4-6E15-3C62-E5B0-3596E4978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4532" y="4380553"/>
              <a:ext cx="0" cy="2411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43DB41CD-CE00-C1FE-D3B7-BC6377AD88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7099" y="4621654"/>
              <a:ext cx="53561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338A27CB-2D3C-9FD2-C117-F4189E59C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7099" y="4378781"/>
              <a:ext cx="53561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BF1B3A35-B26E-97F4-C583-B57F533309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5931" y="4501104"/>
              <a:ext cx="40404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8C9C4E16-5C37-1015-37E5-9CA92F5F5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8843" y="4494013"/>
              <a:ext cx="52743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C6FFED47-0C89-884F-B4E9-03A0A1AA8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0586" y="3873542"/>
              <a:ext cx="521300" cy="356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ru-RU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ru-RU" i="1" baseline="-25000" dirty="0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C26399EE-42EE-6AD4-39E7-A89C83012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1970" y="4197613"/>
              <a:ext cx="521300" cy="381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>
                <a:spcAft>
                  <a:spcPts val="600"/>
                </a:spcAft>
              </a:pPr>
              <a:r>
                <a:rPr lang="ru-RU" i="1" dirty="0">
                  <a:sym typeface="Symbol" pitchFamily="18" charset="2"/>
                </a:rPr>
                <a:t></a:t>
              </a:r>
              <a:endParaRPr lang="ru-RU" i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298B36-A2B0-D7B1-8985-6E94A6C369A6}"/>
                </a:ext>
              </a:extLst>
            </p:cNvPr>
            <p:cNvSpPr txBox="1"/>
            <p:nvPr/>
          </p:nvSpPr>
          <p:spPr>
            <a:xfrm>
              <a:off x="7373877" y="4014065"/>
              <a:ext cx="622674" cy="357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dirty="0">
                  <a:sym typeface="Symbol" panose="05050102010706020507" pitchFamily="18" charset="2"/>
                </a:rPr>
                <a:t></a:t>
              </a:r>
              <a:endParaRPr lang="ru-RU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9FC005B-78DD-3C52-351A-A0C9425D50B6}"/>
              </a:ext>
            </a:extLst>
          </p:cNvPr>
          <p:cNvSpPr txBox="1"/>
          <p:nvPr/>
        </p:nvSpPr>
        <p:spPr>
          <a:xfrm>
            <a:off x="317485" y="503675"/>
            <a:ext cx="4725525" cy="83099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Штат – 100 сотрудников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 к серверу от сотрудника - 6 запросов /час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Ср. время обработки запроса – 5 секунд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E59212-F93A-1078-089B-0AF4F18F0AE1}"/>
              </a:ext>
            </a:extLst>
          </p:cNvPr>
          <p:cNvSpPr txBox="1"/>
          <p:nvPr/>
        </p:nvSpPr>
        <p:spPr>
          <a:xfrm>
            <a:off x="353455" y="3180456"/>
            <a:ext cx="7620190" cy="338554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потери рабочего времени: 0,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м*6 =3 минут за час*8=2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минут за рабочий день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0DA94E-1D74-2497-1BEE-FBDBE584C4FF}"/>
              </a:ext>
            </a:extLst>
          </p:cNvPr>
          <p:cNvSpPr txBox="1"/>
          <p:nvPr/>
        </p:nvSpPr>
        <p:spPr>
          <a:xfrm>
            <a:off x="362490" y="5160676"/>
            <a:ext cx="8875021" cy="584775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потери рабочего времени: 1,125 м*6=6,75 минут за час*8=5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минут за рабочий день.</a:t>
            </a:r>
          </a:p>
          <a:p>
            <a:pPr algn="l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если ещё и поток запросов более жесткий?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F60CA1F8-E6FE-B290-3C66-9841B10F3C93}"/>
              </a:ext>
            </a:extLst>
          </p:cNvPr>
          <p:cNvGrpSpPr/>
          <p:nvPr/>
        </p:nvGrpSpPr>
        <p:grpSpPr>
          <a:xfrm>
            <a:off x="362491" y="2239331"/>
            <a:ext cx="7110790" cy="874634"/>
            <a:chOff x="362491" y="1808820"/>
            <a:chExt cx="7110790" cy="874634"/>
          </a:xfrm>
        </p:grpSpPr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CC4E011A-A8EA-DBDD-F206-9EE55ED0108B}"/>
                </a:ext>
              </a:extLst>
            </p:cNvPr>
            <p:cNvGrpSpPr/>
            <p:nvPr/>
          </p:nvGrpSpPr>
          <p:grpSpPr>
            <a:xfrm>
              <a:off x="364803" y="1853825"/>
              <a:ext cx="7093935" cy="755015"/>
              <a:chOff x="364803" y="1853825"/>
              <a:chExt cx="7093935" cy="755015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3FE5FC1-D53A-98B5-E3A6-C7E7FC9C5F0F}"/>
                  </a:ext>
                </a:extLst>
              </p:cNvPr>
              <p:cNvSpPr txBox="1"/>
              <p:nvPr/>
            </p:nvSpPr>
            <p:spPr>
              <a:xfrm>
                <a:off x="364803" y="1989130"/>
                <a:ext cx="7093935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Процессы случайные, тогда </a:t>
                </a:r>
                <a:r>
                  <a:rPr lang="ru-RU" sz="16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ср. время ответа: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0149DCA-A77E-4900-A17C-341A2AAD469C}"/>
                      </a:ext>
                    </a:extLst>
                  </p:cNvPr>
                  <p:cNvSpPr txBox="1"/>
                  <p:nvPr/>
                </p:nvSpPr>
                <p:spPr>
                  <a:xfrm>
                    <a:off x="4838716" y="1853825"/>
                    <a:ext cx="2596801" cy="75501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0149DCA-A77E-4900-A17C-341A2AAD46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8716" y="1853825"/>
                    <a:ext cx="2596801" cy="75501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A392904A-C77E-B43C-100C-73FAD2E67A3B}"/>
                </a:ext>
              </a:extLst>
            </p:cNvPr>
            <p:cNvSpPr/>
            <p:nvPr/>
          </p:nvSpPr>
          <p:spPr bwMode="auto">
            <a:xfrm>
              <a:off x="362491" y="1808820"/>
              <a:ext cx="7110790" cy="87463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39C187C-6DFA-3B09-F2C6-B0D4A62A36EF}"/>
              </a:ext>
            </a:extLst>
          </p:cNvPr>
          <p:cNvGrpSpPr/>
          <p:nvPr/>
        </p:nvGrpSpPr>
        <p:grpSpPr>
          <a:xfrm>
            <a:off x="353455" y="3619181"/>
            <a:ext cx="5985664" cy="1485165"/>
            <a:chOff x="362491" y="3315471"/>
            <a:chExt cx="5985664" cy="148516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0962C8-30CB-9060-36A0-1BAC165146D4}"/>
                </a:ext>
              </a:extLst>
            </p:cNvPr>
            <p:cNvSpPr txBox="1"/>
            <p:nvPr/>
          </p:nvSpPr>
          <p:spPr>
            <a:xfrm>
              <a:off x="364803" y="3338990"/>
              <a:ext cx="5983352" cy="3385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К-т вариации времени обработки = 2, тогда </a:t>
              </a:r>
              <a:r>
                <a:rPr lang="ru-RU" sz="16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ср. время ответа: </a:t>
              </a:r>
            </a:p>
          </p:txBody>
        </p: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D37C3E73-B2A1-E054-81FC-D9D8865A6A37}"/>
                </a:ext>
              </a:extLst>
            </p:cNvPr>
            <p:cNvGrpSpPr/>
            <p:nvPr/>
          </p:nvGrpSpPr>
          <p:grpSpPr>
            <a:xfrm>
              <a:off x="362491" y="3315471"/>
              <a:ext cx="5774625" cy="1485165"/>
              <a:chOff x="362491" y="3315471"/>
              <a:chExt cx="5774625" cy="14851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64A9469-A093-B39E-C4CB-BE22A80BE85C}"/>
                      </a:ext>
                    </a:extLst>
                  </p:cNvPr>
                  <p:cNvSpPr txBox="1"/>
                  <p:nvPr/>
                </p:nvSpPr>
                <p:spPr>
                  <a:xfrm>
                    <a:off x="1025267" y="3744035"/>
                    <a:ext cx="5111849" cy="936218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p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∗5∗5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2(1−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=67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1,125 м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64A9469-A093-B39E-C4CB-BE22A80BE8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267" y="3744035"/>
                    <a:ext cx="5111849" cy="93621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9C069C74-0120-C592-38A0-761277E48BE4}"/>
                  </a:ext>
                </a:extLst>
              </p:cNvPr>
              <p:cNvSpPr/>
              <p:nvPr/>
            </p:nvSpPr>
            <p:spPr bwMode="auto">
              <a:xfrm>
                <a:off x="362491" y="3315471"/>
                <a:ext cx="5774126" cy="148516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CC7B4E66-1EC2-3CF3-4399-05E74405C90D}"/>
              </a:ext>
            </a:extLst>
          </p:cNvPr>
          <p:cNvGrpSpPr/>
          <p:nvPr/>
        </p:nvGrpSpPr>
        <p:grpSpPr>
          <a:xfrm>
            <a:off x="6454228" y="291458"/>
            <a:ext cx="1918518" cy="1063850"/>
            <a:chOff x="6411534" y="297360"/>
            <a:chExt cx="1918518" cy="115597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3FA0888-CEB0-AD97-53B6-E268597F4E2B}"/>
                </a:ext>
              </a:extLst>
            </p:cNvPr>
            <p:cNvSpPr txBox="1"/>
            <p:nvPr/>
          </p:nvSpPr>
          <p:spPr>
            <a:xfrm>
              <a:off x="7800113" y="585850"/>
              <a:ext cx="529939" cy="36787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Км</a:t>
              </a:r>
              <a:endParaRPr lang="ru-RU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40FB47-96F3-8F0E-E909-FB40BA5BBDE7}"/>
                </a:ext>
              </a:extLst>
            </p:cNvPr>
            <p:cNvSpPr txBox="1"/>
            <p:nvPr/>
          </p:nvSpPr>
          <p:spPr>
            <a:xfrm>
              <a:off x="6979821" y="1114781"/>
              <a:ext cx="507301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48D45F3-8CCD-AED1-BF60-973CFD42307F}"/>
                </a:ext>
              </a:extLst>
            </p:cNvPr>
            <p:cNvSpPr txBox="1"/>
            <p:nvPr/>
          </p:nvSpPr>
          <p:spPr>
            <a:xfrm>
              <a:off x="6411534" y="297360"/>
              <a:ext cx="507301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E557F53-3C0D-B6AB-482E-97DF95E810A4}"/>
                </a:ext>
              </a:extLst>
            </p:cNvPr>
            <p:cNvSpPr txBox="1"/>
            <p:nvPr/>
          </p:nvSpPr>
          <p:spPr>
            <a:xfrm>
              <a:off x="6700453" y="576856"/>
              <a:ext cx="507301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25C57FB4-E780-3469-AA60-8C297D3FAE59}"/>
                </a:ext>
              </a:extLst>
            </p:cNvPr>
            <p:cNvCxnSpPr>
              <a:cxnSpLocks/>
              <a:stCxn id="38" idx="3"/>
              <a:endCxn id="35" idx="1"/>
            </p:cNvCxnSpPr>
            <p:nvPr/>
          </p:nvCxnSpPr>
          <p:spPr bwMode="auto">
            <a:xfrm>
              <a:off x="6918835" y="466637"/>
              <a:ext cx="881278" cy="30314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EC491609-60DC-8D9A-69C3-814C42C7DBE3}"/>
                </a:ext>
              </a:extLst>
            </p:cNvPr>
            <p:cNvCxnSpPr>
              <a:cxnSpLocks/>
              <a:stCxn id="37" idx="3"/>
              <a:endCxn id="35" idx="1"/>
            </p:cNvCxnSpPr>
            <p:nvPr/>
          </p:nvCxnSpPr>
          <p:spPr bwMode="auto">
            <a:xfrm flipV="1">
              <a:off x="7487122" y="769786"/>
              <a:ext cx="312991" cy="5142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A035DE-F676-442B-A6FC-5BD7D6EE89A0}"/>
              </a:ext>
            </a:extLst>
          </p:cNvPr>
          <p:cNvSpPr txBox="1"/>
          <p:nvPr/>
        </p:nvSpPr>
        <p:spPr>
          <a:xfrm>
            <a:off x="7473280" y="1583795"/>
            <a:ext cx="1145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D/D/1</a:t>
            </a:r>
            <a:endParaRPr lang="ru-RU" u="sng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3B2289-C6AF-45E8-B868-FA0AAE002877}"/>
              </a:ext>
            </a:extLst>
          </p:cNvPr>
          <p:cNvSpPr txBox="1"/>
          <p:nvPr/>
        </p:nvSpPr>
        <p:spPr>
          <a:xfrm>
            <a:off x="8398317" y="2384593"/>
            <a:ext cx="1145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M/M/1</a:t>
            </a:r>
            <a:endParaRPr lang="ru-RU" u="sng" dirty="0"/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6E54A108-13C2-42C4-96B4-0BDCFDB0B325}"/>
              </a:ext>
            </a:extLst>
          </p:cNvPr>
          <p:cNvGrpSpPr/>
          <p:nvPr/>
        </p:nvGrpSpPr>
        <p:grpSpPr>
          <a:xfrm>
            <a:off x="6161708" y="3837753"/>
            <a:ext cx="3156777" cy="652412"/>
            <a:chOff x="6161708" y="3837753"/>
            <a:chExt cx="3156777" cy="652412"/>
          </a:xfrm>
        </p:grpSpPr>
        <p:sp>
          <p:nvSpPr>
            <p:cNvPr id="49" name="Text Box 20">
              <a:extLst>
                <a:ext uri="{FF2B5EF4-FFF2-40B4-BE49-F238E27FC236}">
                  <a16:creationId xmlns:a16="http://schemas.microsoft.com/office/drawing/2014/main" id="{BFEB5D3E-BF56-09BB-1CD5-F84839734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7185" y="3837753"/>
              <a:ext cx="521300" cy="3563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Aft>
                  <a:spcPts val="600"/>
                </a:spcAft>
              </a:pPr>
              <a:r>
                <a:rPr lang="ru-RU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ru-RU" i="1" dirty="0">
                  <a:solidFill>
                    <a:srgbClr val="FF0000"/>
                  </a:solidFill>
                  <a:sym typeface="Symbol" pitchFamily="18" charset="2"/>
                </a:rPr>
                <a:t></a:t>
              </a:r>
              <a:r>
                <a:rPr lang="ru-RU" i="1" baseline="-25000" dirty="0" err="1">
                  <a:solidFill>
                    <a:srgbClr val="FF0000"/>
                  </a:solidFill>
                </a:rPr>
                <a:t>b</a:t>
              </a:r>
              <a:endParaRPr lang="ru-RU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84102C1-F7F4-438D-B2DE-C3ADC0AB24CF}"/>
                </a:ext>
              </a:extLst>
            </p:cNvPr>
            <p:cNvSpPr txBox="1"/>
            <p:nvPr/>
          </p:nvSpPr>
          <p:spPr>
            <a:xfrm>
              <a:off x="6161708" y="4120833"/>
              <a:ext cx="114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M/G</a:t>
              </a:r>
              <a:r>
                <a:rPr lang="en-US" u="sng" baseline="-25000" dirty="0"/>
                <a:t>2</a:t>
              </a:r>
              <a:r>
                <a:rPr lang="en-US" u="sng" dirty="0"/>
                <a:t>/1</a:t>
              </a:r>
              <a:endParaRPr lang="ru-RU" u="sng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911F5E-D629-4C36-9AA4-7891E549B8BB}"/>
              </a:ext>
            </a:extLst>
          </p:cNvPr>
          <p:cNvSpPr txBox="1"/>
          <p:nvPr/>
        </p:nvSpPr>
        <p:spPr>
          <a:xfrm>
            <a:off x="5988115" y="5781403"/>
            <a:ext cx="14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G</a:t>
            </a:r>
            <a:r>
              <a:rPr lang="en-US" u="sng" baseline="-25000" dirty="0"/>
              <a:t>2</a:t>
            </a:r>
            <a:r>
              <a:rPr lang="en-US" u="sng" dirty="0"/>
              <a:t>/G</a:t>
            </a:r>
            <a:r>
              <a:rPr lang="en-US" u="sng" baseline="-25000" dirty="0"/>
              <a:t>2</a:t>
            </a:r>
            <a:r>
              <a:rPr lang="en-US" u="sng" dirty="0"/>
              <a:t>/1</a:t>
            </a:r>
            <a:r>
              <a:rPr lang="ru-RU" u="sng" dirty="0"/>
              <a:t> = ?</a:t>
            </a:r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1A1CCBDC-696B-46D0-88B8-913DBA567E7F}"/>
              </a:ext>
            </a:extLst>
          </p:cNvPr>
          <p:cNvGrpSpPr/>
          <p:nvPr/>
        </p:nvGrpSpPr>
        <p:grpSpPr>
          <a:xfrm>
            <a:off x="6723878" y="1953127"/>
            <a:ext cx="2247036" cy="3828276"/>
            <a:chOff x="6723878" y="1953127"/>
            <a:chExt cx="2247036" cy="3828276"/>
          </a:xfrm>
        </p:grpSpPr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44A951B5-4B77-45D2-9E78-0069F8144A02}"/>
                </a:ext>
              </a:extLst>
            </p:cNvPr>
            <p:cNvCxnSpPr>
              <a:stCxn id="2" idx="2"/>
              <a:endCxn id="42" idx="0"/>
            </p:cNvCxnSpPr>
            <p:nvPr/>
          </p:nvCxnSpPr>
          <p:spPr bwMode="auto">
            <a:xfrm>
              <a:off x="8045877" y="1953127"/>
              <a:ext cx="925037" cy="431466"/>
            </a:xfrm>
            <a:prstGeom prst="straightConnector1">
              <a:avLst/>
            </a:prstGeom>
            <a:solidFill>
              <a:schemeClr val="accent1"/>
            </a:solidFill>
            <a:ln w="63500" cap="flat" cmpd="dbl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Прямая со стрелкой 28">
              <a:extLst>
                <a:ext uri="{FF2B5EF4-FFF2-40B4-BE49-F238E27FC236}">
                  <a16:creationId xmlns:a16="http://schemas.microsoft.com/office/drawing/2014/main" id="{D1483A82-672B-4B9A-B15B-2D546868C6AB}"/>
                </a:ext>
              </a:extLst>
            </p:cNvPr>
            <p:cNvCxnSpPr>
              <a:stCxn id="42" idx="2"/>
              <a:endCxn id="50" idx="0"/>
            </p:cNvCxnSpPr>
            <p:nvPr/>
          </p:nvCxnSpPr>
          <p:spPr bwMode="auto">
            <a:xfrm flipH="1">
              <a:off x="6734305" y="2753925"/>
              <a:ext cx="2236609" cy="1366908"/>
            </a:xfrm>
            <a:prstGeom prst="straightConnector1">
              <a:avLst/>
            </a:prstGeom>
            <a:solidFill>
              <a:schemeClr val="accent1"/>
            </a:solidFill>
            <a:ln w="63500" cap="flat" cmpd="dbl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F7B0AA48-66D4-4A09-9515-53A43D385182}"/>
                </a:ext>
              </a:extLst>
            </p:cNvPr>
            <p:cNvCxnSpPr>
              <a:cxnSpLocks/>
              <a:stCxn id="50" idx="2"/>
              <a:endCxn id="52" idx="0"/>
            </p:cNvCxnSpPr>
            <p:nvPr/>
          </p:nvCxnSpPr>
          <p:spPr bwMode="auto">
            <a:xfrm flipH="1">
              <a:off x="6723878" y="4490165"/>
              <a:ext cx="10427" cy="1291238"/>
            </a:xfrm>
            <a:prstGeom prst="straightConnector1">
              <a:avLst/>
            </a:prstGeom>
            <a:solidFill>
              <a:schemeClr val="accent1"/>
            </a:solidFill>
            <a:ln w="63500" cap="flat" cmpd="dbl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E3426578-00C3-4463-AA59-ABAA90AAB120}"/>
              </a:ext>
            </a:extLst>
          </p:cNvPr>
          <p:cNvGrpSpPr/>
          <p:nvPr/>
        </p:nvGrpSpPr>
        <p:grpSpPr>
          <a:xfrm>
            <a:off x="375940" y="5807296"/>
            <a:ext cx="5560742" cy="369332"/>
            <a:chOff x="375940" y="5807296"/>
            <a:chExt cx="5560742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83673B-9695-42BC-A8DD-D58704EB6E4D}"/>
                </a:ext>
              </a:extLst>
            </p:cNvPr>
            <p:cNvSpPr txBox="1"/>
            <p:nvPr/>
          </p:nvSpPr>
          <p:spPr>
            <a:xfrm>
              <a:off x="375940" y="5807296"/>
              <a:ext cx="41270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Имитационное моделирование</a:t>
              </a:r>
            </a:p>
          </p:txBody>
        </p:sp>
        <p:cxnSp>
          <p:nvCxnSpPr>
            <p:cNvPr id="55" name="Прямая со стрелкой 54">
              <a:extLst>
                <a:ext uri="{FF2B5EF4-FFF2-40B4-BE49-F238E27FC236}">
                  <a16:creationId xmlns:a16="http://schemas.microsoft.com/office/drawing/2014/main" id="{9727E174-B3A1-484C-BE3E-FA11BF592B8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277925" y="5990721"/>
              <a:ext cx="1658757" cy="1241"/>
            </a:xfrm>
            <a:prstGeom prst="straightConnector1">
              <a:avLst/>
            </a:prstGeom>
            <a:solidFill>
              <a:schemeClr val="accent1"/>
            </a:solidFill>
            <a:ln w="63500" cap="flat" cmpd="dbl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9" name="Овал 58">
            <a:extLst>
              <a:ext uri="{FF2B5EF4-FFF2-40B4-BE49-F238E27FC236}">
                <a16:creationId xmlns:a16="http://schemas.microsoft.com/office/drawing/2014/main" id="{918B3975-ADA7-410C-B721-BDDEE77F480A}"/>
              </a:ext>
            </a:extLst>
          </p:cNvPr>
          <p:cNvSpPr/>
          <p:nvPr/>
        </p:nvSpPr>
        <p:spPr bwMode="auto">
          <a:xfrm>
            <a:off x="7633232" y="4000574"/>
            <a:ext cx="676148" cy="328763"/>
          </a:xfrm>
          <a:prstGeom prst="ellipse">
            <a:avLst/>
          </a:prstGeom>
          <a:solidFill>
            <a:srgbClr val="FFFFCC">
              <a:alpha val="45000"/>
            </a:srgbClr>
          </a:solidFill>
          <a:ln w="25400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E8C21B-5B25-430F-854A-C5BAEE2514AA}"/>
              </a:ext>
            </a:extLst>
          </p:cNvPr>
          <p:cNvSpPr txBox="1"/>
          <p:nvPr/>
        </p:nvSpPr>
        <p:spPr>
          <a:xfrm>
            <a:off x="8918459" y="278650"/>
            <a:ext cx="812295" cy="58477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</a:p>
          <a:p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E72DB6D1-4688-4190-9D58-850FA7BDF1A0}"/>
              </a:ext>
            </a:extLst>
          </p:cNvPr>
          <p:cNvCxnSpPr>
            <a:cxnSpLocks/>
            <a:stCxn id="35" idx="3"/>
            <a:endCxn id="66" idx="1"/>
          </p:cNvCxnSpPr>
          <p:nvPr/>
        </p:nvCxnSpPr>
        <p:spPr bwMode="auto">
          <a:xfrm flipV="1">
            <a:off x="8372746" y="571038"/>
            <a:ext cx="545713" cy="15519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98EB4E2D-3B22-4D23-AECD-57F58CD36E46}"/>
              </a:ext>
            </a:extLst>
          </p:cNvPr>
          <p:cNvGrpSpPr/>
          <p:nvPr/>
        </p:nvGrpSpPr>
        <p:grpSpPr>
          <a:xfrm>
            <a:off x="8372746" y="726234"/>
            <a:ext cx="1358008" cy="931818"/>
            <a:chOff x="8372746" y="768773"/>
            <a:chExt cx="1358008" cy="93181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33B9583-7C89-4217-9434-63EB92A935C4}"/>
                </a:ext>
              </a:extLst>
            </p:cNvPr>
            <p:cNvSpPr txBox="1"/>
            <p:nvPr/>
          </p:nvSpPr>
          <p:spPr>
            <a:xfrm>
              <a:off x="8918459" y="1115816"/>
              <a:ext cx="812295" cy="584775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0033CC"/>
              </a:solidFill>
            </a:ln>
          </p:spPr>
          <p:txBody>
            <a:bodyPr wrap="square" rtlCol="0">
              <a:spAutoFit/>
            </a:bodyPr>
            <a:lstStyle/>
            <a:p>
              <a:endParaRPr lang="ru-RU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Сервер</a:t>
              </a:r>
            </a:p>
            <a:p>
              <a:endParaRPr lang="ru-RU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80242FC5-0C69-459E-A42C-92538381C9AB}"/>
                </a:ext>
              </a:extLst>
            </p:cNvPr>
            <p:cNvCxnSpPr>
              <a:cxnSpLocks/>
              <a:stCxn id="35" idx="3"/>
              <a:endCxn id="79" idx="1"/>
            </p:cNvCxnSpPr>
            <p:nvPr/>
          </p:nvCxnSpPr>
          <p:spPr bwMode="auto">
            <a:xfrm>
              <a:off x="8372746" y="768773"/>
              <a:ext cx="545713" cy="63943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AE288E1-05A8-C8AB-DFA9-04E5EDADE700}"/>
              </a:ext>
            </a:extLst>
          </p:cNvPr>
          <p:cNvGrpSpPr/>
          <p:nvPr/>
        </p:nvGrpSpPr>
        <p:grpSpPr>
          <a:xfrm>
            <a:off x="362489" y="1470266"/>
            <a:ext cx="7073027" cy="687752"/>
            <a:chOff x="362489" y="1470266"/>
            <a:chExt cx="7073027" cy="6877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1F21C33-1444-48D6-543E-E2100BAC3407}"/>
                    </a:ext>
                  </a:extLst>
                </p:cNvPr>
                <p:cNvSpPr txBox="1"/>
                <p:nvPr/>
              </p:nvSpPr>
              <p:spPr>
                <a:xfrm>
                  <a:off x="362489" y="1470266"/>
                  <a:ext cx="7073027" cy="68775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ru-RU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 6*100=600 запросов /час или 600/3600=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ru-RU" sz="160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ru-RU" sz="1600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ru-RU" sz="16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с</m:t>
                          </m:r>
                        </m:e>
                        <m:sup>
                          <m:r>
                            <a:rPr lang="ru-RU" sz="16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a14:m>
                  <a:r>
                    <a:rPr lang="ru-RU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; ср. интервал: 3600/600= </a:t>
                  </a:r>
                  <a:r>
                    <a:rPr lang="ru-RU" sz="1600" dirty="0">
                      <a:solidFill>
                        <a:srgbClr val="0033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 с</a:t>
                  </a:r>
                </a:p>
                <a:p>
                  <a:pPr algn="l"/>
                  <a:r>
                    <a:rPr lang="ru-RU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Ср. время обработки запроса (5с)</a:t>
                  </a:r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&lt;</a:t>
                  </a:r>
                  <a:r>
                    <a:rPr lang="ru-RU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ср. интервала (6с)          </a:t>
                  </a:r>
                  <a:r>
                    <a:rPr lang="ru-RU" sz="1600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ср. время ответа: </a:t>
                  </a:r>
                  <a:r>
                    <a:rPr lang="ru-RU" sz="1600" b="1" u="sng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 с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1F21C33-1444-48D6-543E-E2100BAC3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89" y="1470266"/>
                  <a:ext cx="7073027" cy="687752"/>
                </a:xfrm>
                <a:prstGeom prst="rect">
                  <a:avLst/>
                </a:prstGeom>
                <a:blipFill>
                  <a:blip r:embed="rId4"/>
                  <a:stretch>
                    <a:fillRect l="-344" r="-172" b="-9565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2CC7229D-AB04-FD08-EFEC-4B458816E44B}"/>
                </a:ext>
              </a:extLst>
            </p:cNvPr>
            <p:cNvCxnSpPr/>
            <p:nvPr/>
          </p:nvCxnSpPr>
          <p:spPr bwMode="auto">
            <a:xfrm>
              <a:off x="5133020" y="2033845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2A00660-DC08-B66B-BC9C-4043B0A18F7A}"/>
              </a:ext>
            </a:extLst>
          </p:cNvPr>
          <p:cNvSpPr txBox="1"/>
          <p:nvPr/>
        </p:nvSpPr>
        <p:spPr>
          <a:xfrm>
            <a:off x="3384550" y="13555"/>
            <a:ext cx="201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u="sng" dirty="0">
                <a:solidFill>
                  <a:srgbClr val="0033CC"/>
                </a:solidFill>
              </a:rPr>
              <a:t>Задача </a:t>
            </a:r>
          </a:p>
        </p:txBody>
      </p:sp>
    </p:spTree>
    <p:extLst>
      <p:ext uri="{BB962C8B-B14F-4D97-AF65-F5344CB8AC3E}">
        <p14:creationId xmlns:p14="http://schemas.microsoft.com/office/powerpoint/2010/main" val="202137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2" grpId="0"/>
      <p:bldP spid="42" grpId="0"/>
      <p:bldP spid="52" grpId="0"/>
      <p:bldP spid="5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956C3-A231-44D3-BD7B-BF703AA34146}"/>
                  </a:ext>
                </a:extLst>
              </p:cNvPr>
              <p:cNvSpPr txBox="1"/>
              <p:nvPr/>
            </p:nvSpPr>
            <p:spPr>
              <a:xfrm>
                <a:off x="1862173" y="3203975"/>
                <a:ext cx="979794" cy="442035"/>
              </a:xfrm>
              <a:prstGeom prst="rect">
                <a:avLst/>
              </a:prstGeom>
              <a:noFill/>
              <a:ln w="15875">
                <a:solidFill>
                  <a:srgbClr val="C00000"/>
                </a:solidFill>
              </a:ln>
            </p:spPr>
            <p:txBody>
              <a:bodyPr wrap="square" lIns="72000" tIns="36000" rIns="72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5956C3-A231-44D3-BD7B-BF703AA34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73" y="3203975"/>
                <a:ext cx="979794" cy="442035"/>
              </a:xfrm>
              <a:prstGeom prst="rect">
                <a:avLst/>
              </a:prstGeom>
              <a:blipFill>
                <a:blip r:embed="rId2"/>
                <a:stretch>
                  <a:fillRect l="-3659" b="-12000"/>
                </a:stretch>
              </a:blipFill>
              <a:ln w="158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87F1-8792-4D9B-8E4C-0A153446BBF7}" type="slidenum">
              <a:rPr lang="ru-RU"/>
              <a:pPr/>
              <a:t>6</a:t>
            </a:fld>
            <a:endParaRPr lang="ru-RU"/>
          </a:p>
        </p:txBody>
      </p:sp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4860634" y="-18466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1510" name="Text Box 22"/>
          <p:cNvSpPr txBox="1">
            <a:spLocks noChangeArrowheads="1"/>
          </p:cNvSpPr>
          <p:nvPr/>
        </p:nvSpPr>
        <p:spPr bwMode="auto">
          <a:xfrm>
            <a:off x="193675" y="503675"/>
            <a:ext cx="951864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1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Многоканальные системы с однородным потоком заявок  (М/М/К)</a:t>
            </a:r>
          </a:p>
        </p:txBody>
      </p:sp>
      <p:sp>
        <p:nvSpPr>
          <p:cNvPr id="191518" name="Rectangle 30"/>
          <p:cNvSpPr>
            <a:spLocks noChangeArrowheads="1"/>
          </p:cNvSpPr>
          <p:nvPr/>
        </p:nvSpPr>
        <p:spPr bwMode="auto">
          <a:xfrm>
            <a:off x="8816" y="2326786"/>
            <a:ext cx="223138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>
                <a:solidFill>
                  <a:schemeClr val="tx1"/>
                </a:solidFill>
                <a:latin typeface="Arial" pitchFamily="34" charset="0"/>
              </a:rPr>
              <a:t> </a:t>
            </a:r>
            <a:endParaRPr lang="en-US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91529" name="Rectangle 41"/>
          <p:cNvSpPr>
            <a:spLocks noChangeArrowheads="1"/>
          </p:cNvSpPr>
          <p:nvPr/>
        </p:nvSpPr>
        <p:spPr bwMode="auto">
          <a:xfrm>
            <a:off x="8816" y="2326786"/>
            <a:ext cx="223138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>
                <a:solidFill>
                  <a:schemeClr val="tx1"/>
                </a:solidFill>
                <a:latin typeface="Arial" pitchFamily="34" charset="0"/>
              </a:rPr>
              <a:t> </a:t>
            </a:r>
            <a:endParaRPr lang="en-US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91539" name="Rectangle 51"/>
          <p:cNvSpPr>
            <a:spLocks noChangeArrowheads="1"/>
          </p:cNvSpPr>
          <p:nvPr/>
        </p:nvSpPr>
        <p:spPr bwMode="auto">
          <a:xfrm>
            <a:off x="8816" y="2326786"/>
            <a:ext cx="223138" cy="2616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>
                <a:solidFill>
                  <a:schemeClr val="tx1"/>
                </a:solidFill>
                <a:latin typeface="Arial" pitchFamily="34" charset="0"/>
              </a:rPr>
              <a:t> </a:t>
            </a:r>
            <a:endParaRPr lang="en-US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5" name="Нижний колонтитул 5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i="1"/>
              <a:t>«Моделирование»</a:t>
            </a:r>
            <a:endParaRPr lang="ru-RU" i="1" dirty="0"/>
          </a:p>
        </p:txBody>
      </p: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193675" y="98630"/>
            <a:ext cx="9518650" cy="49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4. Анализ свойств базовых моделей</a:t>
            </a:r>
            <a:endParaRPr kumimoji="0" lang="ru-RU" sz="2800" b="1" i="0" u="none" strike="noStrike" kern="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  <a:hlinkClick r:id="" action="ppaction://noaction"/>
            </a:endParaRPr>
          </a:p>
        </p:txBody>
      </p:sp>
      <p:sp>
        <p:nvSpPr>
          <p:cNvPr id="182290" name="Rectangle 18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2291" name="Rectangle 19"/>
          <p:cNvSpPr>
            <a:spLocks noChangeArrowheads="1"/>
          </p:cNvSpPr>
          <p:nvPr/>
        </p:nvSpPr>
        <p:spPr bwMode="auto">
          <a:xfrm>
            <a:off x="0" y="51435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2293" name="Rectangle 21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2365" name="Rectangle 93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2367" name="Rectangle 95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2369" name="Rectangle 97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58061" name="Group 13"/>
          <p:cNvGrpSpPr>
            <a:grpSpLocks/>
          </p:cNvGrpSpPr>
          <p:nvPr/>
        </p:nvGrpSpPr>
        <p:grpSpPr bwMode="auto">
          <a:xfrm>
            <a:off x="722530" y="1176653"/>
            <a:ext cx="3152923" cy="1667282"/>
            <a:chOff x="6204" y="11048"/>
            <a:chExt cx="3819" cy="1863"/>
          </a:xfrm>
        </p:grpSpPr>
        <p:sp>
          <p:nvSpPr>
            <p:cNvPr id="258063" name="Text Box 15"/>
            <p:cNvSpPr txBox="1">
              <a:spLocks noChangeArrowheads="1"/>
            </p:cNvSpPr>
            <p:nvPr/>
          </p:nvSpPr>
          <p:spPr bwMode="auto">
            <a:xfrm>
              <a:off x="8943" y="11372"/>
              <a:ext cx="731" cy="53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680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ru-RU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П</a:t>
              </a:r>
              <a:r>
                <a:rPr kumimoji="0" lang="ru-RU" sz="20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064" name="Line 16"/>
            <p:cNvSpPr>
              <a:spLocks noChangeShapeType="1"/>
            </p:cNvSpPr>
            <p:nvPr/>
          </p:nvSpPr>
          <p:spPr bwMode="auto">
            <a:xfrm>
              <a:off x="9681" y="11651"/>
              <a:ext cx="3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65" name="Line 17"/>
            <p:cNvSpPr>
              <a:spLocks noChangeShapeType="1"/>
            </p:cNvSpPr>
            <p:nvPr/>
          </p:nvSpPr>
          <p:spPr bwMode="auto">
            <a:xfrm>
              <a:off x="7401" y="11956"/>
              <a:ext cx="1" cy="3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66" name="Line 18"/>
            <p:cNvSpPr>
              <a:spLocks noChangeShapeType="1"/>
            </p:cNvSpPr>
            <p:nvPr/>
          </p:nvSpPr>
          <p:spPr bwMode="auto">
            <a:xfrm>
              <a:off x="7629" y="11956"/>
              <a:ext cx="1" cy="3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67" name="Line 19"/>
            <p:cNvSpPr>
              <a:spLocks noChangeShapeType="1"/>
            </p:cNvSpPr>
            <p:nvPr/>
          </p:nvSpPr>
          <p:spPr bwMode="auto">
            <a:xfrm>
              <a:off x="7868" y="11956"/>
              <a:ext cx="0" cy="3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68" name="Line 20"/>
            <p:cNvSpPr>
              <a:spLocks noChangeShapeType="1"/>
            </p:cNvSpPr>
            <p:nvPr/>
          </p:nvSpPr>
          <p:spPr bwMode="auto">
            <a:xfrm flipH="1">
              <a:off x="7059" y="12322"/>
              <a:ext cx="8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69" name="Line 21"/>
            <p:cNvSpPr>
              <a:spLocks noChangeShapeType="1"/>
            </p:cNvSpPr>
            <p:nvPr/>
          </p:nvSpPr>
          <p:spPr bwMode="auto">
            <a:xfrm flipH="1">
              <a:off x="7059" y="11955"/>
              <a:ext cx="8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70" name="Line 22"/>
            <p:cNvSpPr>
              <a:spLocks noChangeShapeType="1"/>
            </p:cNvSpPr>
            <p:nvPr/>
          </p:nvSpPr>
          <p:spPr bwMode="auto">
            <a:xfrm flipH="1">
              <a:off x="6261" y="12115"/>
              <a:ext cx="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71" name="Line 23"/>
            <p:cNvSpPr>
              <a:spLocks noChangeShapeType="1"/>
            </p:cNvSpPr>
            <p:nvPr/>
          </p:nvSpPr>
          <p:spPr bwMode="auto">
            <a:xfrm>
              <a:off x="7876" y="12115"/>
              <a:ext cx="5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72" name="Text Box 24"/>
            <p:cNvSpPr txBox="1">
              <a:spLocks noChangeArrowheads="1"/>
            </p:cNvSpPr>
            <p:nvPr/>
          </p:nvSpPr>
          <p:spPr bwMode="auto">
            <a:xfrm>
              <a:off x="6204" y="11657"/>
              <a:ext cx="627" cy="4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54000" tIns="8280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073" name="Text Box 25"/>
            <p:cNvSpPr txBox="1">
              <a:spLocks noChangeArrowheads="1"/>
            </p:cNvSpPr>
            <p:nvPr/>
          </p:nvSpPr>
          <p:spPr bwMode="auto">
            <a:xfrm>
              <a:off x="7059" y="11362"/>
              <a:ext cx="969" cy="5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54000" tIns="82800" rIns="54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Н (О)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074" name="Text Box 26"/>
            <p:cNvSpPr txBox="1">
              <a:spLocks noChangeArrowheads="1"/>
            </p:cNvSpPr>
            <p:nvPr/>
          </p:nvSpPr>
          <p:spPr bwMode="auto">
            <a:xfrm>
              <a:off x="9111" y="11048"/>
              <a:ext cx="334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076" name="Text Box 28"/>
            <p:cNvSpPr txBox="1">
              <a:spLocks noChangeArrowheads="1"/>
            </p:cNvSpPr>
            <p:nvPr/>
          </p:nvSpPr>
          <p:spPr bwMode="auto">
            <a:xfrm>
              <a:off x="8943" y="12378"/>
              <a:ext cx="731" cy="53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46800" rIns="1800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П</a:t>
              </a:r>
              <a:r>
                <a:rPr kumimoji="0" lang="en-US" sz="2000" b="0" i="1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</a:t>
              </a:r>
              <a:endParaRPr kumimoji="0" 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077" name="Line 29"/>
            <p:cNvSpPr>
              <a:spLocks noChangeShapeType="1"/>
            </p:cNvSpPr>
            <p:nvPr/>
          </p:nvSpPr>
          <p:spPr bwMode="auto">
            <a:xfrm>
              <a:off x="9679" y="12657"/>
              <a:ext cx="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78" name="Line 30"/>
            <p:cNvSpPr>
              <a:spLocks noChangeShapeType="1"/>
            </p:cNvSpPr>
            <p:nvPr/>
          </p:nvSpPr>
          <p:spPr bwMode="auto">
            <a:xfrm>
              <a:off x="8370" y="11651"/>
              <a:ext cx="0" cy="10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79" name="Line 31"/>
            <p:cNvSpPr>
              <a:spLocks noChangeShapeType="1"/>
            </p:cNvSpPr>
            <p:nvPr/>
          </p:nvSpPr>
          <p:spPr bwMode="auto">
            <a:xfrm>
              <a:off x="8370" y="11651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80" name="Line 32"/>
            <p:cNvSpPr>
              <a:spLocks noChangeShapeType="1"/>
            </p:cNvSpPr>
            <p:nvPr/>
          </p:nvSpPr>
          <p:spPr bwMode="auto">
            <a:xfrm>
              <a:off x="8370" y="12657"/>
              <a:ext cx="5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81" name="Text Box 33"/>
            <p:cNvSpPr txBox="1">
              <a:spLocks noChangeArrowheads="1"/>
            </p:cNvSpPr>
            <p:nvPr/>
          </p:nvSpPr>
          <p:spPr bwMode="auto">
            <a:xfrm>
              <a:off x="8943" y="11931"/>
              <a:ext cx="738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...</a:t>
              </a: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082" name="Line 34"/>
            <p:cNvSpPr>
              <a:spLocks noChangeShapeType="1"/>
            </p:cNvSpPr>
            <p:nvPr/>
          </p:nvSpPr>
          <p:spPr bwMode="auto">
            <a:xfrm>
              <a:off x="7173" y="11956"/>
              <a:ext cx="0" cy="3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58084" name="Rectangle 36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58083" name="Object 35"/>
          <p:cNvGraphicFramePr>
            <a:graphicFrameLocks noChangeAspect="1"/>
          </p:cNvGraphicFramePr>
          <p:nvPr/>
        </p:nvGraphicFramePr>
        <p:xfrm>
          <a:off x="443499" y="1888350"/>
          <a:ext cx="224408" cy="280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2334" imgH="190417" progId="">
                  <p:embed/>
                </p:oleObj>
              </mc:Choice>
              <mc:Fallback>
                <p:oleObj r:id="rId3" imgW="152334" imgH="190417" progId="">
                  <p:embed/>
                  <p:pic>
                    <p:nvPicPr>
                      <p:cNvPr id="25808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499" y="1888350"/>
                        <a:ext cx="224408" cy="2805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86" name="Rectangle 38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58085" name="Object 37"/>
          <p:cNvGraphicFramePr>
            <a:graphicFrameLocks noChangeAspect="1"/>
          </p:cNvGraphicFramePr>
          <p:nvPr/>
        </p:nvGraphicFramePr>
        <p:xfrm>
          <a:off x="3166301" y="1133744"/>
          <a:ext cx="256529" cy="270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6890" imgH="190335" progId="">
                  <p:embed/>
                </p:oleObj>
              </mc:Choice>
              <mc:Fallback>
                <p:oleObj r:id="rId5" imgW="126890" imgH="190335" progId="">
                  <p:embed/>
                  <p:pic>
                    <p:nvPicPr>
                      <p:cNvPr id="25808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6301" y="1133744"/>
                        <a:ext cx="256529" cy="2700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88" name="Rectangle 40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58087" name="Object 39"/>
          <p:cNvGraphicFramePr>
            <a:graphicFrameLocks noChangeAspect="1"/>
          </p:cNvGraphicFramePr>
          <p:nvPr/>
        </p:nvGraphicFramePr>
        <p:xfrm>
          <a:off x="4367935" y="1223755"/>
          <a:ext cx="1454279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77476" imgH="482391" progId="">
                  <p:embed/>
                </p:oleObj>
              </mc:Choice>
              <mc:Fallback>
                <p:oleObj r:id="rId7" imgW="977476" imgH="482391" progId="">
                  <p:embed/>
                  <p:pic>
                    <p:nvPicPr>
                      <p:cNvPr id="25808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935" y="1223755"/>
                        <a:ext cx="1454279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0" name="Rectangle 42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58089" name="Object 41"/>
          <p:cNvGraphicFramePr>
            <a:graphicFrameLocks noChangeAspect="1"/>
          </p:cNvGraphicFramePr>
          <p:nvPr/>
        </p:nvGraphicFramePr>
        <p:xfrm>
          <a:off x="6393160" y="1223755"/>
          <a:ext cx="1544081" cy="668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06500" imgH="520700" progId="">
                  <p:embed/>
                </p:oleObj>
              </mc:Choice>
              <mc:Fallback>
                <p:oleObj r:id="rId9" imgW="1206500" imgH="520700" progId="">
                  <p:embed/>
                  <p:pic>
                    <p:nvPicPr>
                      <p:cNvPr id="258089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3160" y="1223755"/>
                        <a:ext cx="1544081" cy="6686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2" name="Rectangle 44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58091" name="Object 43"/>
          <p:cNvGraphicFramePr>
            <a:graphicFrameLocks noChangeAspect="1"/>
          </p:cNvGraphicFramePr>
          <p:nvPr/>
        </p:nvGraphicFramePr>
        <p:xfrm>
          <a:off x="4457946" y="2078850"/>
          <a:ext cx="2777847" cy="765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47900" imgH="622300" progId="">
                  <p:embed/>
                </p:oleObj>
              </mc:Choice>
              <mc:Fallback>
                <p:oleObj r:id="rId11" imgW="2247900" imgH="622300" progId="">
                  <p:embed/>
                  <p:pic>
                    <p:nvPicPr>
                      <p:cNvPr id="25809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946" y="2078850"/>
                        <a:ext cx="2777847" cy="7650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107" name="Rectangle 59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8109" name="Rectangle 61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8128" name="Rectangle 80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8130" name="Rectangle 82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8132" name="Rectangle 84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8115" name="Line 67"/>
          <p:cNvSpPr>
            <a:spLocks noChangeAspect="1" noChangeShapeType="1"/>
          </p:cNvSpPr>
          <p:nvPr/>
        </p:nvSpPr>
        <p:spPr bwMode="auto">
          <a:xfrm>
            <a:off x="5535161" y="3392115"/>
            <a:ext cx="2351874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8116" name="Line 68"/>
          <p:cNvSpPr>
            <a:spLocks noChangeAspect="1" noChangeShapeType="1"/>
          </p:cNvSpPr>
          <p:nvPr/>
        </p:nvSpPr>
        <p:spPr bwMode="auto">
          <a:xfrm>
            <a:off x="7887036" y="3392115"/>
            <a:ext cx="0" cy="1713017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8121" name="Text Box 73"/>
          <p:cNvSpPr txBox="1">
            <a:spLocks noChangeArrowheads="1"/>
          </p:cNvSpPr>
          <p:nvPr/>
        </p:nvSpPr>
        <p:spPr bwMode="auto">
          <a:xfrm>
            <a:off x="6515109" y="4678237"/>
            <a:ext cx="933185" cy="28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8122" name="Text Box 74"/>
          <p:cNvSpPr txBox="1">
            <a:spLocks noChangeArrowheads="1"/>
          </p:cNvSpPr>
          <p:nvPr/>
        </p:nvSpPr>
        <p:spPr bwMode="auto">
          <a:xfrm>
            <a:off x="5770349" y="3895823"/>
            <a:ext cx="877483" cy="28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8126" name="Text Box 78"/>
          <p:cNvSpPr txBox="1">
            <a:spLocks noChangeArrowheads="1"/>
          </p:cNvSpPr>
          <p:nvPr/>
        </p:nvSpPr>
        <p:spPr bwMode="auto">
          <a:xfrm>
            <a:off x="6711099" y="4145298"/>
            <a:ext cx="864417" cy="28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2E96570-D840-4A71-A1B2-7E72FCD9A072}"/>
              </a:ext>
            </a:extLst>
          </p:cNvPr>
          <p:cNvGrpSpPr/>
          <p:nvPr/>
        </p:nvGrpSpPr>
        <p:grpSpPr>
          <a:xfrm>
            <a:off x="5535161" y="3469608"/>
            <a:ext cx="2351874" cy="891177"/>
            <a:chOff x="5535161" y="3469608"/>
            <a:chExt cx="2351874" cy="891177"/>
          </a:xfrm>
        </p:grpSpPr>
        <p:sp>
          <p:nvSpPr>
            <p:cNvPr id="258125" name="Freeform 77"/>
            <p:cNvSpPr>
              <a:spLocks/>
            </p:cNvSpPr>
            <p:nvPr/>
          </p:nvSpPr>
          <p:spPr bwMode="auto">
            <a:xfrm>
              <a:off x="5535161" y="3469608"/>
              <a:ext cx="2351874" cy="891177"/>
            </a:xfrm>
            <a:custGeom>
              <a:avLst/>
              <a:gdLst/>
              <a:ahLst/>
              <a:cxnLst>
                <a:cxn ang="0">
                  <a:pos x="0" y="1311"/>
                </a:cxn>
                <a:cxn ang="0">
                  <a:pos x="591" y="1267"/>
                </a:cxn>
                <a:cxn ang="0">
                  <a:pos x="1182" y="1062"/>
                </a:cxn>
                <a:cxn ang="0">
                  <a:pos x="3420" y="0"/>
                </a:cxn>
              </a:cxnLst>
              <a:rect l="0" t="0" r="r" b="b"/>
              <a:pathLst>
                <a:path w="3420" h="1311">
                  <a:moveTo>
                    <a:pt x="0" y="1311"/>
                  </a:moveTo>
                  <a:cubicBezTo>
                    <a:pt x="98" y="1304"/>
                    <a:pt x="394" y="1308"/>
                    <a:pt x="591" y="1267"/>
                  </a:cubicBezTo>
                  <a:cubicBezTo>
                    <a:pt x="788" y="1226"/>
                    <a:pt x="711" y="1273"/>
                    <a:pt x="1182" y="1062"/>
                  </a:cubicBezTo>
                  <a:cubicBezTo>
                    <a:pt x="1653" y="851"/>
                    <a:pt x="2954" y="221"/>
                    <a:pt x="3420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aphicFrame>
          <p:nvGraphicFramePr>
            <p:cNvPr id="258127" name="Object 79"/>
            <p:cNvGraphicFramePr>
              <a:graphicFrameLocks noChangeAspect="1"/>
            </p:cNvGraphicFramePr>
            <p:nvPr/>
          </p:nvGraphicFramePr>
          <p:xfrm>
            <a:off x="5763091" y="3729318"/>
            <a:ext cx="990110" cy="305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774364" imgH="241195" progId="">
                    <p:embed/>
                  </p:oleObj>
                </mc:Choice>
                <mc:Fallback>
                  <p:oleObj r:id="rId13" imgW="774364" imgH="241195" progId="">
                    <p:embed/>
                    <p:pic>
                      <p:nvPicPr>
                        <p:cNvPr id="258127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3091" y="3729318"/>
                          <a:ext cx="990110" cy="3055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43E799C-184E-4CD5-B4E8-751C4CF506FD}"/>
              </a:ext>
            </a:extLst>
          </p:cNvPr>
          <p:cNvGrpSpPr/>
          <p:nvPr/>
        </p:nvGrpSpPr>
        <p:grpSpPr>
          <a:xfrm>
            <a:off x="5535161" y="3508355"/>
            <a:ext cx="2658199" cy="1356138"/>
            <a:chOff x="5535161" y="3508355"/>
            <a:chExt cx="2658199" cy="1356138"/>
          </a:xfrm>
        </p:grpSpPr>
        <p:sp>
          <p:nvSpPr>
            <p:cNvPr id="258123" name="Line 75"/>
            <p:cNvSpPr>
              <a:spLocks noChangeShapeType="1"/>
            </p:cNvSpPr>
            <p:nvPr/>
          </p:nvSpPr>
          <p:spPr bwMode="auto">
            <a:xfrm flipV="1">
              <a:off x="5535161" y="3508355"/>
              <a:ext cx="2351874" cy="13561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aphicFrame>
          <p:nvGraphicFramePr>
            <p:cNvPr id="258129" name="Object 81"/>
            <p:cNvGraphicFramePr>
              <a:graphicFrameLocks noChangeAspect="1"/>
            </p:cNvGraphicFramePr>
            <p:nvPr/>
          </p:nvGraphicFramePr>
          <p:xfrm>
            <a:off x="7275258" y="3886793"/>
            <a:ext cx="918102" cy="286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761669" imgH="241195" progId="">
                    <p:embed/>
                  </p:oleObj>
                </mc:Choice>
                <mc:Fallback>
                  <p:oleObj r:id="rId15" imgW="761669" imgH="241195" progId="">
                    <p:embed/>
                    <p:pic>
                      <p:nvPicPr>
                        <p:cNvPr id="258129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5258" y="3886793"/>
                          <a:ext cx="918102" cy="2869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E826CEB-DBEA-413F-8FC2-66A54CB91F6A}"/>
              </a:ext>
            </a:extLst>
          </p:cNvPr>
          <p:cNvGrpSpPr/>
          <p:nvPr/>
        </p:nvGrpSpPr>
        <p:grpSpPr>
          <a:xfrm>
            <a:off x="5535161" y="4600743"/>
            <a:ext cx="2351874" cy="464962"/>
            <a:chOff x="5535161" y="4600743"/>
            <a:chExt cx="2351874" cy="464962"/>
          </a:xfrm>
        </p:grpSpPr>
        <p:sp>
          <p:nvSpPr>
            <p:cNvPr id="258124" name="Freeform 76"/>
            <p:cNvSpPr>
              <a:spLocks/>
            </p:cNvSpPr>
            <p:nvPr/>
          </p:nvSpPr>
          <p:spPr bwMode="auto">
            <a:xfrm>
              <a:off x="5535161" y="4600743"/>
              <a:ext cx="2351874" cy="4649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9" y="399"/>
                </a:cxn>
                <a:cxn ang="0">
                  <a:pos x="3420" y="684"/>
                </a:cxn>
              </a:cxnLst>
              <a:rect l="0" t="0" r="r" b="b"/>
              <a:pathLst>
                <a:path w="3420" h="684">
                  <a:moveTo>
                    <a:pt x="0" y="0"/>
                  </a:moveTo>
                  <a:cubicBezTo>
                    <a:pt x="199" y="142"/>
                    <a:pt x="399" y="285"/>
                    <a:pt x="969" y="399"/>
                  </a:cubicBezTo>
                  <a:cubicBezTo>
                    <a:pt x="1539" y="513"/>
                    <a:pt x="2479" y="598"/>
                    <a:pt x="3420" y="684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aphicFrame>
          <p:nvGraphicFramePr>
            <p:cNvPr id="258131" name="Object 83"/>
            <p:cNvGraphicFramePr>
              <a:graphicFrameLocks noChangeAspect="1"/>
            </p:cNvGraphicFramePr>
            <p:nvPr/>
          </p:nvGraphicFramePr>
          <p:xfrm>
            <a:off x="6663189" y="4683783"/>
            <a:ext cx="973967" cy="283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825500" imgH="241300" progId="">
                    <p:embed/>
                  </p:oleObj>
                </mc:Choice>
                <mc:Fallback>
                  <p:oleObj r:id="rId17" imgW="825500" imgH="241300" progId="">
                    <p:embed/>
                    <p:pic>
                      <p:nvPicPr>
                        <p:cNvPr id="258131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3189" y="4683783"/>
                          <a:ext cx="973967" cy="2831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6" name="Группа 155"/>
          <p:cNvGrpSpPr/>
          <p:nvPr/>
        </p:nvGrpSpPr>
        <p:grpSpPr>
          <a:xfrm>
            <a:off x="677525" y="3121708"/>
            <a:ext cx="3600400" cy="2790310"/>
            <a:chOff x="677525" y="3203975"/>
            <a:chExt cx="3600400" cy="2790310"/>
          </a:xfrm>
        </p:grpSpPr>
        <p:sp>
          <p:nvSpPr>
            <p:cNvPr id="258095" name="Rectangle 47"/>
            <p:cNvSpPr>
              <a:spLocks noChangeArrowheads="1"/>
            </p:cNvSpPr>
            <p:nvPr/>
          </p:nvSpPr>
          <p:spPr bwMode="auto">
            <a:xfrm>
              <a:off x="677525" y="3244291"/>
              <a:ext cx="3600400" cy="2749994"/>
            </a:xfrm>
            <a:prstGeom prst="rect">
              <a:avLst/>
            </a:prstGeom>
            <a:noFill/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96" name="Line 48"/>
            <p:cNvSpPr>
              <a:spLocks noChangeAspect="1" noChangeShapeType="1"/>
            </p:cNvSpPr>
            <p:nvPr/>
          </p:nvSpPr>
          <p:spPr bwMode="auto">
            <a:xfrm>
              <a:off x="1328661" y="3284608"/>
              <a:ext cx="0" cy="19033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97" name="Line 49"/>
            <p:cNvSpPr>
              <a:spLocks noChangeAspect="1" noChangeShapeType="1"/>
            </p:cNvSpPr>
            <p:nvPr/>
          </p:nvSpPr>
          <p:spPr bwMode="auto">
            <a:xfrm>
              <a:off x="1328661" y="5176643"/>
              <a:ext cx="2451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98" name="Freeform 50"/>
            <p:cNvSpPr>
              <a:spLocks noChangeAspect="1"/>
            </p:cNvSpPr>
            <p:nvPr/>
          </p:nvSpPr>
          <p:spPr bwMode="auto">
            <a:xfrm rot="5400000">
              <a:off x="1897507" y="3413393"/>
              <a:ext cx="1169172" cy="2288720"/>
            </a:xfrm>
            <a:custGeom>
              <a:avLst/>
              <a:gdLst/>
              <a:ahLst/>
              <a:cxnLst>
                <a:cxn ang="0">
                  <a:pos x="0" y="2280"/>
                </a:cxn>
                <a:cxn ang="0">
                  <a:pos x="1653" y="1824"/>
                </a:cxn>
                <a:cxn ang="0">
                  <a:pos x="2223" y="0"/>
                </a:cxn>
              </a:cxnLst>
              <a:rect l="0" t="0" r="r" b="b"/>
              <a:pathLst>
                <a:path w="2223" h="2280">
                  <a:moveTo>
                    <a:pt x="0" y="2280"/>
                  </a:moveTo>
                  <a:cubicBezTo>
                    <a:pt x="641" y="2242"/>
                    <a:pt x="1283" y="2204"/>
                    <a:pt x="1653" y="1824"/>
                  </a:cubicBezTo>
                  <a:cubicBezTo>
                    <a:pt x="2023" y="1444"/>
                    <a:pt x="2128" y="304"/>
                    <a:pt x="2223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099" name="Text Box 51"/>
            <p:cNvSpPr txBox="1">
              <a:spLocks noChangeAspect="1" noChangeArrowheads="1"/>
            </p:cNvSpPr>
            <p:nvPr/>
          </p:nvSpPr>
          <p:spPr bwMode="auto">
            <a:xfrm>
              <a:off x="3665091" y="5067011"/>
              <a:ext cx="459626" cy="264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00" name="Text Box 52"/>
            <p:cNvSpPr txBox="1">
              <a:spLocks noChangeAspect="1" noChangeArrowheads="1"/>
            </p:cNvSpPr>
            <p:nvPr/>
          </p:nvSpPr>
          <p:spPr bwMode="auto">
            <a:xfrm>
              <a:off x="983942" y="3203975"/>
              <a:ext cx="344719" cy="6300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endParaRPr kumimoji="0" 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w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01" name="Text Box 53"/>
            <p:cNvSpPr txBox="1">
              <a:spLocks noChangeAspect="1" noChangeArrowheads="1"/>
            </p:cNvSpPr>
            <p:nvPr/>
          </p:nvSpPr>
          <p:spPr bwMode="auto">
            <a:xfrm>
              <a:off x="1262589" y="5176643"/>
              <a:ext cx="1845206" cy="257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     2     3     4     5 …     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02" name="Text Box 54"/>
            <p:cNvSpPr txBox="1">
              <a:spLocks noChangeAspect="1" noChangeArrowheads="1"/>
            </p:cNvSpPr>
            <p:nvPr/>
          </p:nvSpPr>
          <p:spPr bwMode="auto">
            <a:xfrm>
              <a:off x="1022244" y="5041548"/>
              <a:ext cx="306417" cy="2327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03" name="Freeform 55"/>
            <p:cNvSpPr>
              <a:spLocks noChangeAspect="1"/>
            </p:cNvSpPr>
            <p:nvPr/>
          </p:nvSpPr>
          <p:spPr bwMode="auto">
            <a:xfrm rot="5400000">
              <a:off x="1742837" y="3053623"/>
              <a:ext cx="1469775" cy="2298128"/>
            </a:xfrm>
            <a:custGeom>
              <a:avLst/>
              <a:gdLst/>
              <a:ahLst/>
              <a:cxnLst>
                <a:cxn ang="0">
                  <a:pos x="0" y="2280"/>
                </a:cxn>
                <a:cxn ang="0">
                  <a:pos x="1653" y="1824"/>
                </a:cxn>
                <a:cxn ang="0">
                  <a:pos x="2223" y="0"/>
                </a:cxn>
              </a:cxnLst>
              <a:rect l="0" t="0" r="r" b="b"/>
              <a:pathLst>
                <a:path w="2223" h="2280">
                  <a:moveTo>
                    <a:pt x="0" y="2280"/>
                  </a:moveTo>
                  <a:cubicBezTo>
                    <a:pt x="641" y="2242"/>
                    <a:pt x="1283" y="2204"/>
                    <a:pt x="1653" y="1824"/>
                  </a:cubicBezTo>
                  <a:cubicBezTo>
                    <a:pt x="2023" y="1444"/>
                    <a:pt x="2128" y="304"/>
                    <a:pt x="2223" y="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104" name="AutoShape 56"/>
            <p:cNvSpPr>
              <a:spLocks/>
            </p:cNvSpPr>
            <p:nvPr/>
          </p:nvSpPr>
          <p:spPr bwMode="auto">
            <a:xfrm>
              <a:off x="3130222" y="3414143"/>
              <a:ext cx="1102698" cy="442772"/>
            </a:xfrm>
            <a:prstGeom prst="borderCallout1">
              <a:avLst>
                <a:gd name="adj1" fmla="val 48403"/>
                <a:gd name="adj2" fmla="val -879"/>
                <a:gd name="adj3" fmla="val 306546"/>
                <a:gd name="adj4" fmla="val -59112"/>
              </a:avLst>
            </a:prstGeom>
            <a:noFill/>
            <a:ln w="1270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05" name="AutoShape 57"/>
            <p:cNvSpPr>
              <a:spLocks/>
            </p:cNvSpPr>
            <p:nvPr/>
          </p:nvSpPr>
          <p:spPr bwMode="auto">
            <a:xfrm>
              <a:off x="3146349" y="4051327"/>
              <a:ext cx="1086571" cy="422967"/>
            </a:xfrm>
            <a:prstGeom prst="borderCallout1">
              <a:avLst>
                <a:gd name="adj1" fmla="val 43566"/>
                <a:gd name="adj2" fmla="val 177"/>
                <a:gd name="adj3" fmla="val 234190"/>
                <a:gd name="adj4" fmla="val -3190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aphicFrame>
          <p:nvGraphicFramePr>
            <p:cNvPr id="258106" name="Object 58"/>
            <p:cNvGraphicFramePr>
              <a:graphicFrameLocks noChangeAspect="1"/>
            </p:cNvGraphicFramePr>
            <p:nvPr/>
          </p:nvGraphicFramePr>
          <p:xfrm>
            <a:off x="3190304" y="3463544"/>
            <a:ext cx="997611" cy="315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748975" imgH="241195" progId="">
                    <p:embed/>
                  </p:oleObj>
                </mc:Choice>
                <mc:Fallback>
                  <p:oleObj r:id="rId19" imgW="748975" imgH="241195" progId="">
                    <p:embed/>
                    <p:pic>
                      <p:nvPicPr>
                        <p:cNvPr id="258106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304" y="3463544"/>
                          <a:ext cx="997611" cy="3150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8" name="Object 60"/>
            <p:cNvGraphicFramePr>
              <a:graphicFrameLocks noChangeAspect="1"/>
            </p:cNvGraphicFramePr>
            <p:nvPr/>
          </p:nvGraphicFramePr>
          <p:xfrm>
            <a:off x="3198076" y="4096332"/>
            <a:ext cx="1034844" cy="299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825500" imgH="241300" progId="">
                    <p:embed/>
                  </p:oleObj>
                </mc:Choice>
                <mc:Fallback>
                  <p:oleObj r:id="rId21" imgW="825500" imgH="241300" progId="">
                    <p:embed/>
                    <p:pic>
                      <p:nvPicPr>
                        <p:cNvPr id="258108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076" y="4096332"/>
                          <a:ext cx="1034844" cy="299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" name="Text Box 63"/>
            <p:cNvSpPr txBox="1">
              <a:spLocks noChangeAspect="1" noChangeArrowheads="1"/>
            </p:cNvSpPr>
            <p:nvPr/>
          </p:nvSpPr>
          <p:spPr bwMode="auto">
            <a:xfrm>
              <a:off x="1262590" y="5401477"/>
              <a:ext cx="2295255" cy="315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Число приборов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5" name="Прямая соединительная линия 144"/>
            <p:cNvCxnSpPr/>
            <p:nvPr/>
          </p:nvCxnSpPr>
          <p:spPr bwMode="auto">
            <a:xfrm>
              <a:off x="1622630" y="5139190"/>
              <a:ext cx="0" cy="90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Прямая соединительная линия 145"/>
            <p:cNvCxnSpPr/>
            <p:nvPr/>
          </p:nvCxnSpPr>
          <p:spPr bwMode="auto">
            <a:xfrm>
              <a:off x="1937665" y="5139190"/>
              <a:ext cx="0" cy="90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Прямая соединительная линия 146"/>
            <p:cNvCxnSpPr/>
            <p:nvPr/>
          </p:nvCxnSpPr>
          <p:spPr bwMode="auto">
            <a:xfrm>
              <a:off x="2252700" y="5139190"/>
              <a:ext cx="0" cy="90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Прямая соединительная линия 147"/>
            <p:cNvCxnSpPr/>
            <p:nvPr/>
          </p:nvCxnSpPr>
          <p:spPr bwMode="auto">
            <a:xfrm>
              <a:off x="2567735" y="5139190"/>
              <a:ext cx="0" cy="90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4" name="Freeform 50">
              <a:extLst>
                <a:ext uri="{FF2B5EF4-FFF2-40B4-BE49-F238E27FC236}">
                  <a16:creationId xmlns:a16="http://schemas.microsoft.com/office/drawing/2014/main" id="{D14F7CCA-2868-4B3D-B9A3-07D2A0DC1CB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1897152" y="3412798"/>
              <a:ext cx="1169172" cy="2288720"/>
            </a:xfrm>
            <a:custGeom>
              <a:avLst/>
              <a:gdLst/>
              <a:ahLst/>
              <a:cxnLst>
                <a:cxn ang="0">
                  <a:pos x="0" y="2280"/>
                </a:cxn>
                <a:cxn ang="0">
                  <a:pos x="1653" y="1824"/>
                </a:cxn>
                <a:cxn ang="0">
                  <a:pos x="2223" y="0"/>
                </a:cxn>
              </a:cxnLst>
              <a:rect l="0" t="0" r="r" b="b"/>
              <a:pathLst>
                <a:path w="2223" h="2280">
                  <a:moveTo>
                    <a:pt x="0" y="2280"/>
                  </a:moveTo>
                  <a:cubicBezTo>
                    <a:pt x="641" y="2242"/>
                    <a:pt x="1283" y="2204"/>
                    <a:pt x="1653" y="1824"/>
                  </a:cubicBezTo>
                  <a:cubicBezTo>
                    <a:pt x="2023" y="1444"/>
                    <a:pt x="2128" y="304"/>
                    <a:pt x="2223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9" name="Группа 158"/>
          <p:cNvGrpSpPr/>
          <p:nvPr/>
        </p:nvGrpSpPr>
        <p:grpSpPr>
          <a:xfrm>
            <a:off x="4907995" y="3076702"/>
            <a:ext cx="3645405" cy="2827573"/>
            <a:chOff x="4907995" y="3076702"/>
            <a:chExt cx="3645405" cy="2827573"/>
          </a:xfrm>
        </p:grpSpPr>
        <p:sp>
          <p:nvSpPr>
            <p:cNvPr id="258111" name="Text Box 63"/>
            <p:cNvSpPr txBox="1">
              <a:spLocks noChangeAspect="1" noChangeArrowheads="1"/>
            </p:cNvSpPr>
            <p:nvPr/>
          </p:nvSpPr>
          <p:spPr bwMode="auto">
            <a:xfrm>
              <a:off x="4907995" y="5379078"/>
              <a:ext cx="3645405" cy="52519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Сохраняем суммарную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производительность системы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12" name="Rectangle 64"/>
            <p:cNvSpPr>
              <a:spLocks noChangeArrowheads="1"/>
            </p:cNvSpPr>
            <p:nvPr/>
          </p:nvSpPr>
          <p:spPr bwMode="auto">
            <a:xfrm>
              <a:off x="4907995" y="3076702"/>
              <a:ext cx="3645405" cy="2827573"/>
            </a:xfrm>
            <a:prstGeom prst="rect">
              <a:avLst/>
            </a:prstGeom>
            <a:noFill/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113" name="Line 65"/>
            <p:cNvSpPr>
              <a:spLocks noChangeAspect="1" noChangeShapeType="1"/>
            </p:cNvSpPr>
            <p:nvPr/>
          </p:nvSpPr>
          <p:spPr bwMode="auto">
            <a:xfrm>
              <a:off x="5535161" y="3198381"/>
              <a:ext cx="0" cy="19121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114" name="Line 66"/>
            <p:cNvSpPr>
              <a:spLocks noChangeAspect="1" noChangeShapeType="1"/>
            </p:cNvSpPr>
            <p:nvPr/>
          </p:nvSpPr>
          <p:spPr bwMode="auto">
            <a:xfrm>
              <a:off x="5535161" y="5079300"/>
              <a:ext cx="25086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8117" name="Text Box 69"/>
            <p:cNvSpPr txBox="1">
              <a:spLocks noChangeAspect="1" noChangeArrowheads="1"/>
            </p:cNvSpPr>
            <p:nvPr/>
          </p:nvSpPr>
          <p:spPr bwMode="auto">
            <a:xfrm>
              <a:off x="7887036" y="4974616"/>
              <a:ext cx="470375" cy="254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8118" name="Text Box 70"/>
            <p:cNvSpPr txBox="1">
              <a:spLocks noChangeAspect="1" noChangeArrowheads="1"/>
            </p:cNvSpPr>
            <p:nvPr/>
          </p:nvSpPr>
          <p:spPr bwMode="auto">
            <a:xfrm>
              <a:off x="5223030" y="3120887"/>
              <a:ext cx="312131" cy="675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</a:t>
              </a:r>
              <a:endParaRPr kumimoji="0" 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b="0" i="1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w</a:t>
              </a:r>
              <a:endPara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55" name="Группа 154"/>
            <p:cNvGrpSpPr/>
            <p:nvPr/>
          </p:nvGrpSpPr>
          <p:grpSpPr>
            <a:xfrm>
              <a:off x="5223030" y="4966913"/>
              <a:ext cx="2085551" cy="392553"/>
              <a:chOff x="1022245" y="5871762"/>
              <a:chExt cx="2085551" cy="392553"/>
            </a:xfrm>
          </p:grpSpPr>
          <p:sp>
            <p:nvSpPr>
              <p:cNvPr id="149" name="Text Box 53"/>
              <p:cNvSpPr txBox="1">
                <a:spLocks noChangeAspect="1" noChangeArrowheads="1"/>
              </p:cNvSpPr>
              <p:nvPr/>
            </p:nvSpPr>
            <p:spPr bwMode="auto">
              <a:xfrm>
                <a:off x="1262590" y="6006857"/>
                <a:ext cx="1845206" cy="257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1     2     3     4     5 …     </a:t>
                </a:r>
                <a:endParaRPr kumimoji="0" 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0" name="Text Box 54"/>
              <p:cNvSpPr txBox="1">
                <a:spLocks noChangeAspect="1" noChangeArrowheads="1"/>
              </p:cNvSpPr>
              <p:nvPr/>
            </p:nvSpPr>
            <p:spPr bwMode="auto">
              <a:xfrm>
                <a:off x="1022245" y="5871762"/>
                <a:ext cx="306417" cy="2327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8000" tIns="10800" rIns="18000" bIns="1080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14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0</a:t>
                </a:r>
                <a:endParaRPr kumimoji="0" lang="ru-RU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51" name="Прямая соединительная линия 150"/>
              <p:cNvCxnSpPr/>
              <p:nvPr/>
            </p:nvCxnSpPr>
            <p:spPr bwMode="auto">
              <a:xfrm>
                <a:off x="1622631" y="5969404"/>
                <a:ext cx="0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2" name="Прямая соединительная линия 151"/>
              <p:cNvCxnSpPr/>
              <p:nvPr/>
            </p:nvCxnSpPr>
            <p:spPr bwMode="auto">
              <a:xfrm>
                <a:off x="1937666" y="5969404"/>
                <a:ext cx="0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3" name="Прямая соединительная линия 152"/>
              <p:cNvCxnSpPr/>
              <p:nvPr/>
            </p:nvCxnSpPr>
            <p:spPr bwMode="auto">
              <a:xfrm>
                <a:off x="2252701" y="5969404"/>
                <a:ext cx="0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4" name="Прямая соединительная линия 153"/>
              <p:cNvCxnSpPr/>
              <p:nvPr/>
            </p:nvCxnSpPr>
            <p:spPr bwMode="auto">
              <a:xfrm>
                <a:off x="2567736" y="5969404"/>
                <a:ext cx="0" cy="900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735EAC-DC9E-49D5-9506-A0A18597E7ED}"/>
                  </a:ext>
                </a:extLst>
              </p:cNvPr>
              <p:cNvSpPr txBox="1"/>
              <p:nvPr/>
            </p:nvSpPr>
            <p:spPr>
              <a:xfrm>
                <a:off x="8453370" y="1306290"/>
                <a:ext cx="1176219" cy="602281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&lt;1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735EAC-DC9E-49D5-9506-A0A18597E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370" y="1306290"/>
                <a:ext cx="1176219" cy="602281"/>
              </a:xfrm>
              <a:prstGeom prst="rect">
                <a:avLst/>
              </a:prstGeom>
              <a:blipFill>
                <a:blip r:embed="rId23"/>
                <a:stretch>
                  <a:fillRect r="-14359" b="-5941"/>
                </a:stretch>
              </a:blipFill>
              <a:ln w="127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9645F24E-CCC1-4413-8EA3-16CC62B7A25F}"/>
              </a:ext>
            </a:extLst>
          </p:cNvPr>
          <p:cNvGrpSpPr/>
          <p:nvPr/>
        </p:nvGrpSpPr>
        <p:grpSpPr>
          <a:xfrm>
            <a:off x="1325791" y="3395794"/>
            <a:ext cx="2288720" cy="1169172"/>
            <a:chOff x="1325791" y="3395794"/>
            <a:chExt cx="2288720" cy="1169172"/>
          </a:xfrm>
        </p:grpSpPr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98B4E0BA-CEE3-43DF-BBF6-D1862749415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1885565" y="2836020"/>
              <a:ext cx="1169172" cy="2288720"/>
            </a:xfrm>
            <a:custGeom>
              <a:avLst/>
              <a:gdLst/>
              <a:ahLst/>
              <a:cxnLst>
                <a:cxn ang="0">
                  <a:pos x="0" y="2280"/>
                </a:cxn>
                <a:cxn ang="0">
                  <a:pos x="1653" y="1824"/>
                </a:cxn>
                <a:cxn ang="0">
                  <a:pos x="2223" y="0"/>
                </a:cxn>
              </a:cxnLst>
              <a:rect l="0" t="0" r="r" b="b"/>
              <a:pathLst>
                <a:path w="2223" h="2280">
                  <a:moveTo>
                    <a:pt x="0" y="2280"/>
                  </a:moveTo>
                  <a:cubicBezTo>
                    <a:pt x="641" y="2242"/>
                    <a:pt x="1283" y="2204"/>
                    <a:pt x="1653" y="1824"/>
                  </a:cubicBezTo>
                  <a:cubicBezTo>
                    <a:pt x="2023" y="1444"/>
                    <a:pt x="2128" y="304"/>
                    <a:pt x="2223" y="0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3A6B72-024B-476D-8DED-7CB4980B510C}"/>
                    </a:ext>
                  </a:extLst>
                </p:cNvPr>
                <p:cNvSpPr txBox="1"/>
                <p:nvPr/>
              </p:nvSpPr>
              <p:spPr>
                <a:xfrm>
                  <a:off x="1661916" y="3699030"/>
                  <a:ext cx="1102697" cy="369332"/>
                </a:xfrm>
                <a:prstGeom prst="rect">
                  <a:avLst/>
                </a:prstGeom>
                <a:noFill/>
                <a:ln w="12700">
                  <a:solidFill>
                    <a:srgbClr val="C0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</a:t>
                  </a:r>
                  <a14:m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en-US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</a:t>
                  </a:r>
                  <a:r>
                    <a:rPr lang="en-US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i="1" baseline="-250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</a:t>
                  </a:r>
                  <a:r>
                    <a:rPr lang="en-US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ru-RU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3A6B72-024B-476D-8DED-7CB4980B5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1916" y="3699030"/>
                  <a:ext cx="1102697" cy="369332"/>
                </a:xfrm>
                <a:prstGeom prst="rect">
                  <a:avLst/>
                </a:prstGeom>
                <a:blipFill>
                  <a:blip r:embed="rId25"/>
                  <a:stretch>
                    <a:fillRect l="-2732" t="-8065" r="-1639" b="-24194"/>
                  </a:stretch>
                </a:blipFill>
                <a:ln w="127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5F99625-7B44-4AAD-B967-F89D5A63EBF4}"/>
                </a:ext>
              </a:extLst>
            </p:cNvPr>
            <p:cNvCxnSpPr>
              <a:cxnSpLocks/>
              <a:stCxn id="12" idx="2"/>
            </p:cNvCxnSpPr>
            <p:nvPr/>
          </p:nvCxnSpPr>
          <p:spPr bwMode="auto">
            <a:xfrm flipH="1">
              <a:off x="2070051" y="4068362"/>
              <a:ext cx="143214" cy="2924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987C52F-5A64-46E6-AB77-5DDCA7AB9547}"/>
              </a:ext>
            </a:extLst>
          </p:cNvPr>
          <p:cNvGrpSpPr/>
          <p:nvPr/>
        </p:nvGrpSpPr>
        <p:grpSpPr>
          <a:xfrm>
            <a:off x="1337378" y="4538504"/>
            <a:ext cx="600287" cy="603191"/>
            <a:chOff x="1337378" y="4538504"/>
            <a:chExt cx="600287" cy="603191"/>
          </a:xfrm>
        </p:grpSpPr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7C30CB38-DF85-49CF-8062-7259E9B2E983}"/>
                </a:ext>
              </a:extLst>
            </p:cNvPr>
            <p:cNvCxnSpPr/>
            <p:nvPr/>
          </p:nvCxnSpPr>
          <p:spPr bwMode="auto">
            <a:xfrm flipV="1">
              <a:off x="1937665" y="4538504"/>
              <a:ext cx="0" cy="60319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49B19455-0E64-4B45-8A25-41EDAFBA9882}"/>
                </a:ext>
              </a:extLst>
            </p:cNvPr>
            <p:cNvCxnSpPr/>
            <p:nvPr/>
          </p:nvCxnSpPr>
          <p:spPr bwMode="auto">
            <a:xfrm>
              <a:off x="1937665" y="4554125"/>
              <a:ext cx="0" cy="27584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1263CF-A321-4EC9-A2AB-81DC51977B08}"/>
                </a:ext>
              </a:extLst>
            </p:cNvPr>
            <p:cNvSpPr txBox="1"/>
            <p:nvPr/>
          </p:nvSpPr>
          <p:spPr>
            <a:xfrm>
              <a:off x="1337378" y="4678237"/>
              <a:ext cx="443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B7278320-A56F-448F-B080-990E8989242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61916" y="4690238"/>
              <a:ext cx="200257" cy="1993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1AAF737-55D7-4D2A-A8A2-DBB3D4AE079E}"/>
              </a:ext>
            </a:extLst>
          </p:cNvPr>
          <p:cNvGrpSpPr/>
          <p:nvPr/>
        </p:nvGrpSpPr>
        <p:grpSpPr>
          <a:xfrm>
            <a:off x="2567735" y="4644136"/>
            <a:ext cx="0" cy="465424"/>
            <a:chOff x="2567735" y="4644136"/>
            <a:chExt cx="0" cy="465424"/>
          </a:xfrm>
        </p:grpSpPr>
        <p:cxnSp>
          <p:nvCxnSpPr>
            <p:cNvPr id="131" name="Прямая соединительная линия 130">
              <a:extLst>
                <a:ext uri="{FF2B5EF4-FFF2-40B4-BE49-F238E27FC236}">
                  <a16:creationId xmlns:a16="http://schemas.microsoft.com/office/drawing/2014/main" id="{E813148B-98B4-43A4-A20F-A1D1E8D7400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67735" y="4644136"/>
              <a:ext cx="0" cy="4654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Прямая соединительная линия 131">
              <a:extLst>
                <a:ext uri="{FF2B5EF4-FFF2-40B4-BE49-F238E27FC236}">
                  <a16:creationId xmlns:a16="http://schemas.microsoft.com/office/drawing/2014/main" id="{BED767C2-11EE-444F-8C52-FD95E18E8AE4}"/>
                </a:ext>
              </a:extLst>
            </p:cNvPr>
            <p:cNvCxnSpPr/>
            <p:nvPr/>
          </p:nvCxnSpPr>
          <p:spPr bwMode="auto">
            <a:xfrm>
              <a:off x="2567735" y="4683321"/>
              <a:ext cx="0" cy="27584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  <a:effectLst/>
          </p:spPr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89AD040-8719-4D78-B4AD-A19F9682B1EA}"/>
              </a:ext>
            </a:extLst>
          </p:cNvPr>
          <p:cNvSpPr txBox="1"/>
          <p:nvPr/>
        </p:nvSpPr>
        <p:spPr>
          <a:xfrm>
            <a:off x="2169754" y="3256238"/>
            <a:ext cx="29749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0033CC"/>
                </a:solidFill>
              </a:rPr>
              <a:t>&lt;</a:t>
            </a:r>
            <a:endParaRPr lang="ru-RU" sz="2000" b="1" dirty="0">
              <a:solidFill>
                <a:srgbClr val="0033CC"/>
              </a:solidFill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8BC2AEAD-D9C2-BAA7-C69F-6475C3D2088C}"/>
              </a:ext>
            </a:extLst>
          </p:cNvPr>
          <p:cNvSpPr/>
          <p:nvPr/>
        </p:nvSpPr>
        <p:spPr bwMode="auto">
          <a:xfrm>
            <a:off x="5055622" y="1177057"/>
            <a:ext cx="860411" cy="947695"/>
          </a:xfrm>
          <a:custGeom>
            <a:avLst/>
            <a:gdLst>
              <a:gd name="connsiteX0" fmla="*/ 506076 w 860411"/>
              <a:gd name="connsiteY0" fmla="*/ 212831 h 947695"/>
              <a:gd name="connsiteX1" fmla="*/ 378060 w 860411"/>
              <a:gd name="connsiteY1" fmla="*/ 20807 h 947695"/>
              <a:gd name="connsiteX2" fmla="*/ 76308 w 860411"/>
              <a:gd name="connsiteY2" fmla="*/ 93959 h 947695"/>
              <a:gd name="connsiteX3" fmla="*/ 3156 w 860411"/>
              <a:gd name="connsiteY3" fmla="*/ 807191 h 947695"/>
              <a:gd name="connsiteX4" fmla="*/ 149460 w 860411"/>
              <a:gd name="connsiteY4" fmla="*/ 944351 h 947695"/>
              <a:gd name="connsiteX5" fmla="*/ 496932 w 860411"/>
              <a:gd name="connsiteY5" fmla="*/ 889487 h 947695"/>
              <a:gd name="connsiteX6" fmla="*/ 771252 w 860411"/>
              <a:gd name="connsiteY6" fmla="*/ 715751 h 947695"/>
              <a:gd name="connsiteX7" fmla="*/ 844404 w 860411"/>
              <a:gd name="connsiteY7" fmla="*/ 404855 h 947695"/>
              <a:gd name="connsiteX8" fmla="*/ 506076 w 860411"/>
              <a:gd name="connsiteY8" fmla="*/ 212831 h 94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0411" h="947695">
                <a:moveTo>
                  <a:pt x="506076" y="212831"/>
                </a:moveTo>
                <a:cubicBezTo>
                  <a:pt x="428352" y="148823"/>
                  <a:pt x="449688" y="40619"/>
                  <a:pt x="378060" y="20807"/>
                </a:cubicBezTo>
                <a:cubicBezTo>
                  <a:pt x="306432" y="995"/>
                  <a:pt x="138792" y="-37105"/>
                  <a:pt x="76308" y="93959"/>
                </a:cubicBezTo>
                <a:cubicBezTo>
                  <a:pt x="13824" y="225023"/>
                  <a:pt x="-9036" y="665459"/>
                  <a:pt x="3156" y="807191"/>
                </a:cubicBezTo>
                <a:cubicBezTo>
                  <a:pt x="15348" y="948923"/>
                  <a:pt x="67164" y="930635"/>
                  <a:pt x="149460" y="944351"/>
                </a:cubicBezTo>
                <a:cubicBezTo>
                  <a:pt x="231756" y="958067"/>
                  <a:pt x="393300" y="927587"/>
                  <a:pt x="496932" y="889487"/>
                </a:cubicBezTo>
                <a:cubicBezTo>
                  <a:pt x="600564" y="851387"/>
                  <a:pt x="713340" y="796523"/>
                  <a:pt x="771252" y="715751"/>
                </a:cubicBezTo>
                <a:cubicBezTo>
                  <a:pt x="829164" y="634979"/>
                  <a:pt x="890124" y="485627"/>
                  <a:pt x="844404" y="404855"/>
                </a:cubicBezTo>
                <a:cubicBezTo>
                  <a:pt x="798684" y="324083"/>
                  <a:pt x="583800" y="276839"/>
                  <a:pt x="506076" y="212831"/>
                </a:cubicBezTo>
                <a:close/>
              </a:path>
            </a:pathLst>
          </a:custGeom>
          <a:solidFill>
            <a:srgbClr val="FFFFCC">
              <a:alpha val="52000"/>
            </a:srgb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59D3D4-02C8-769E-8501-B7B8F94B5678}"/>
                  </a:ext>
                </a:extLst>
              </p:cNvPr>
              <p:cNvSpPr txBox="1"/>
              <p:nvPr/>
            </p:nvSpPr>
            <p:spPr>
              <a:xfrm>
                <a:off x="7887036" y="2303875"/>
                <a:ext cx="1742554" cy="369332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rgbClr val="00B05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/µ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59D3D4-02C8-769E-8501-B7B8F94B5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036" y="2303875"/>
                <a:ext cx="1742554" cy="369332"/>
              </a:xfrm>
              <a:prstGeom prst="rect">
                <a:avLst/>
              </a:prstGeom>
              <a:blipFill>
                <a:blip r:embed="rId26"/>
                <a:stretch>
                  <a:fillRect t="-23810" r="-1736" b="-44444"/>
                </a:stretch>
              </a:blipFill>
              <a:ln w="127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8ABFEF-AED4-12E6-62C9-8D6335386031}"/>
                  </a:ext>
                </a:extLst>
              </p:cNvPr>
              <p:cNvSpPr txBox="1"/>
              <p:nvPr/>
            </p:nvSpPr>
            <p:spPr>
              <a:xfrm>
                <a:off x="9182983" y="2350041"/>
                <a:ext cx="342865" cy="276999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 lIns="72000" tIns="0" rIns="72000" bIns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8ABFEF-AED4-12E6-62C9-8D6335386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983" y="2350041"/>
                <a:ext cx="342865" cy="276999"/>
              </a:xfrm>
              <a:prstGeom prst="rect">
                <a:avLst/>
              </a:prstGeom>
              <a:blipFill>
                <a:blip r:embed="rId27"/>
                <a:stretch>
                  <a:fillRect l="-1754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  <p:bldP spid="6" grpId="0" animBg="1"/>
      <p:bldP spid="8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1313765"/>
            <a:ext cx="8420100" cy="1470025"/>
          </a:xfrm>
        </p:spPr>
        <p:txBody>
          <a:bodyPr/>
          <a:lstStyle/>
          <a:p>
            <a:pPr eaLnBrk="1" hangingPunct="1"/>
            <a:r>
              <a:rPr lang="ru-RU" sz="4800" b="1" dirty="0">
                <a:solidFill>
                  <a:srgbClr val="CC3300"/>
                </a:solidFill>
                <a:latin typeface="Times New Roman" pitchFamily="18" charset="0"/>
              </a:rPr>
              <a:t>«Моделирование»</a:t>
            </a:r>
            <a:endParaRPr lang="ru-RU" sz="4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675" y="2843935"/>
            <a:ext cx="9440863" cy="2933468"/>
          </a:xfrm>
        </p:spPr>
        <p:txBody>
          <a:bodyPr/>
          <a:lstStyle/>
          <a:p>
            <a:pPr algn="l" eaLnBrk="1" hangingPunct="1">
              <a:spcAft>
                <a:spcPts val="0"/>
              </a:spcAft>
            </a:pPr>
            <a:r>
              <a:rPr lang="ru-RU" sz="2400" b="1" dirty="0">
                <a:latin typeface="Times New Roman" pitchFamily="18" charset="0"/>
              </a:rPr>
              <a:t>Лектор:   	АЛИЕВ Тауфик Измайлович, 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ru-RU" sz="2400" b="1" i="1" dirty="0">
                <a:latin typeface="Times New Roman" pitchFamily="18" charset="0"/>
              </a:rPr>
              <a:t>		доктор технических наук, профессор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</a:pPr>
            <a:endParaRPr lang="ru-RU" sz="2400" b="1" i="1" dirty="0">
              <a:latin typeface="Times New Roman" pitchFamily="18" charset="0"/>
            </a:endParaRP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ru-RU" sz="2000" b="1" i="1" dirty="0">
                <a:latin typeface="Times New Roman" pitchFamily="18" charset="0"/>
              </a:rPr>
              <a:t>________________________________________________________________________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b="1" dirty="0">
                <a:solidFill>
                  <a:schemeClr val="accent2"/>
                </a:solidFill>
                <a:latin typeface="Times New Roman" pitchFamily="18" charset="0"/>
              </a:rPr>
              <a:t>Национальный исследовательский университет ИТМО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</a:rPr>
              <a:t> (</a:t>
            </a:r>
            <a:r>
              <a:rPr lang="ru-RU" sz="2800" b="1" dirty="0">
                <a:solidFill>
                  <a:schemeClr val="accent2"/>
                </a:solidFill>
                <a:latin typeface="Times New Roman" pitchFamily="18" charset="0"/>
              </a:rPr>
              <a:t>НИУ ИТМО)</a:t>
            </a:r>
          </a:p>
          <a:p>
            <a:pPr eaLnBrk="1" hangingPunct="1">
              <a:lnSpc>
                <a:spcPct val="90000"/>
              </a:lnSpc>
            </a:pPr>
            <a:endParaRPr lang="ru-RU" sz="2800" b="1" i="1" dirty="0">
              <a:solidFill>
                <a:schemeClr val="accent2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2400" b="1" i="1" dirty="0">
                <a:solidFill>
                  <a:srgbClr val="0070C0"/>
                </a:solidFill>
                <a:latin typeface="Times New Roman" pitchFamily="18" charset="0"/>
              </a:rPr>
              <a:t>Факультет программной инженерии и компьютерной техники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DEA2BA0-9251-E54B-A3BE-CCF128C77046}"/>
              </a:ext>
            </a:extLst>
          </p:cNvPr>
          <p:cNvGrpSpPr/>
          <p:nvPr/>
        </p:nvGrpSpPr>
        <p:grpSpPr>
          <a:xfrm>
            <a:off x="0" y="-8620"/>
            <a:ext cx="9905999" cy="1232375"/>
            <a:chOff x="0" y="-1"/>
            <a:chExt cx="9905999" cy="1232375"/>
          </a:xfrm>
        </p:grpSpPr>
        <p:pic>
          <p:nvPicPr>
            <p:cNvPr id="5" name="Рисунок 4" descr="itmo_horiz_blue_rus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905999" cy="1232375"/>
            </a:xfrm>
            <a:prstGeom prst="rect">
              <a:avLst/>
            </a:prstGeom>
          </p:spPr>
        </p:pic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33B10E41-62DE-A427-7A86-9833C9371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20"/>
              <a:ext cx="2679628" cy="1223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33194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7312</TotalTime>
  <Words>712</Words>
  <Application>Microsoft Office PowerPoint</Application>
  <PresentationFormat>Лист A4 (210x297 мм)</PresentationFormat>
  <Paragraphs>123</Paragraphs>
  <Slides>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Cambria Math</vt:lpstr>
      <vt:lpstr>Symbol</vt:lpstr>
      <vt:lpstr>Times New Roman</vt:lpstr>
      <vt:lpstr>Оформление по умолчанию</vt:lpstr>
      <vt:lpstr>Формула</vt:lpstr>
      <vt:lpstr>«Моделирование»</vt:lpstr>
      <vt:lpstr>Презентация PowerPoint</vt:lpstr>
      <vt:lpstr>Литература для самостоятельной подготовки  </vt:lpstr>
      <vt:lpstr>Презентация PowerPoint</vt:lpstr>
      <vt:lpstr>Презентация PowerPoint</vt:lpstr>
      <vt:lpstr>Презентация PowerPoint</vt:lpstr>
      <vt:lpstr>«Моделирование»</vt:lpstr>
    </vt:vector>
  </TitlesOfParts>
  <Company>loniis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ЭВМ и телекоммуникации</dc:title>
  <dc:creator>Владелец</dc:creator>
  <cp:lastModifiedBy>Тауфик Алиев</cp:lastModifiedBy>
  <cp:revision>750</cp:revision>
  <dcterms:created xsi:type="dcterms:W3CDTF">2006-11-07T10:25:58Z</dcterms:created>
  <dcterms:modified xsi:type="dcterms:W3CDTF">2024-10-13T09:33:59Z</dcterms:modified>
</cp:coreProperties>
</file>