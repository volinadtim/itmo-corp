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sldIdLst>
    <p:sldId id="257" r:id="rId3"/>
    <p:sldId id="256" r:id="rId4"/>
    <p:sldId id="258" r:id="rId5"/>
    <p:sldId id="259" r:id="rId6"/>
    <p:sldId id="260" r:id="rId7"/>
    <p:sldId id="262" r:id="rId8"/>
    <p:sldId id="265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17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DD75B-07E0-4E51-9D9E-0FCCB56977E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8E364-1FFE-44D3-809D-74DAF09D4D19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mailto:____@itmo.ru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</a:t>
            </a:r>
            <a:endParaRPr lang="ru-RU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362274"/>
            <a:ext cx="9144000" cy="895525"/>
          </a:xfrm>
        </p:spPr>
        <p:txBody>
          <a:bodyPr>
            <a:normAutofit/>
          </a:bodyPr>
          <a:lstStyle/>
          <a:p>
            <a:r>
              <a:rPr lang="ru-RU" sz="3200" b="1" i="1" dirty="0"/>
              <a:t>2026/27 учебный год</a:t>
            </a:r>
            <a:endParaRPr lang="ru-RU" sz="32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0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21007" y="580293"/>
            <a:ext cx="10680299" cy="560949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05343" y="1518408"/>
            <a:ext cx="10888910" cy="5956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821007" y="2114026"/>
            <a:ext cx="10888910" cy="936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21007" y="3142932"/>
            <a:ext cx="10888910" cy="869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821007" y="4012684"/>
            <a:ext cx="10888910" cy="4502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21007" y="4462943"/>
            <a:ext cx="10888910" cy="8762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821007" y="5343787"/>
            <a:ext cx="10888910" cy="3858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821007" y="5717136"/>
            <a:ext cx="10888910" cy="4726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3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4971" y="134199"/>
            <a:ext cx="9222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</a:t>
            </a:r>
            <a:endParaRPr lang="ru-RU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Примерный план лабораторных занятий</a:t>
            </a:r>
            <a:endParaRPr lang="ru-RU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3854" y="1041097"/>
            <a:ext cx="1044750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Основы теории вероятностей (ТВ)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1.1. Введение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1.2. Вводное тестирование по ТВ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1.3. Теоретический материал с Презентацией «Основы ТВ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Обработка результатов измерений и УИР 1.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2.1. Теоретический материал с Презентацией: «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Статобработка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2.2. Выдача задания на УИР 1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2.3. Краткая информация по УИР 1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Марковские случайные процессы (МСП) и УИР 2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3.1. Теоретический материал с Презентацией по МСП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3.2. Выдача задания на УИР 2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3.3. Краткая информация по УИР 2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3.4. Прием отчетов по УИР 1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Имитационное моделирование (ИМ) и УИР 3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4.1. Теоретический материал по ИМ 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4.2. Краткая информация по УИР 3 «Простейшие модели систем»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4.2. </a:t>
            </a:r>
            <a:r>
              <a:rPr lang="ru-RU" sz="16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Компьютерное тестирование </a:t>
            </a:r>
            <a:r>
              <a:rPr lang="ru-RU" sz="16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1: </a:t>
            </a:r>
            <a:r>
              <a:rPr lang="ru-RU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Раздел 1, ТВ и МСП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4.3. Прием отчетов по УИР 1 и УИР 2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33854" y="1041097"/>
            <a:ext cx="1044750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Сетевые модели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5.1. Теоретический материал по сетевым моделям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5.2. Краткая информация по УИР 4 «Сетевые модели»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.3. Прием отчетов по УИР 2 и УИР 3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Прием отчетов и тестирование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6.1. </a:t>
            </a:r>
            <a:r>
              <a:rPr lang="ru-RU" sz="18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Компьютерное тестирование </a:t>
            </a:r>
            <a:r>
              <a:rPr lang="ru-RU" sz="18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2: </a:t>
            </a:r>
            <a:r>
              <a:rPr lang="ru-RU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Модели дискретных систем (МДС)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6.2. Прием отчетов по УИР3 и УИР 4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Прием отчетов и тестирование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7.1. </a:t>
            </a:r>
            <a:r>
              <a:rPr lang="ru-RU" sz="18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Компьютерное тестирование </a:t>
            </a:r>
            <a:r>
              <a:rPr lang="ru-RU" sz="18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3: </a:t>
            </a:r>
            <a:r>
              <a:rPr lang="ru-RU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Имитационное моделирование (ИМ)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7.2. Прием отчетов по УИР 4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Итоговое занятие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8.1. </a:t>
            </a:r>
            <a:r>
              <a:rPr lang="ru-RU" sz="1800" i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Итоговое</a:t>
            </a:r>
            <a:r>
              <a:rPr lang="ru-RU" sz="18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тестирование 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</a:t>
            </a:r>
            <a:r>
              <a:rPr lang="ru-RU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всем Разделам дисциплины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8.2. Прием должников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60810" y="428176"/>
            <a:ext cx="9222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Примерный план лабораторных занятий</a:t>
            </a:r>
            <a:endParaRPr lang="ru-RU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8212" y="984088"/>
            <a:ext cx="10583693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/>
            <a:r>
              <a:rPr lang="ru-RU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Перечень лабораторных работ по дисциплине «Моделирование»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/>
            <a:r>
              <a:rPr lang="ru-RU" sz="2400" b="1" u="none" strike="noStrik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Учебно-исследовательская работа 1 (</a:t>
            </a:r>
            <a:r>
              <a:rPr lang="ru-RU" sz="2400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УИР 1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«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Статистический анализ результатов измерений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Учебно-исследовательская работа 2 (</a:t>
            </a:r>
            <a:r>
              <a:rPr lang="ru-RU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УИР 2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«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Исследование систем массового обслуживания на марковских моделях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Учебно-исследовательская работа 3 (</a:t>
            </a:r>
            <a:r>
              <a:rPr lang="ru-RU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УИР 3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«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Моделирование систем массового обслуживания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 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Учебно-исследовательская работа 4 (</a:t>
            </a:r>
            <a:r>
              <a:rPr lang="ru-RU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УИР 4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«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Моделирование сетей массового обслуживания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 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4551" y="212735"/>
            <a:ext cx="1082289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/>
            <a:r>
              <a:rPr lang="ru-RU" sz="36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ВАЖНО!!!</a:t>
            </a:r>
            <a:endParaRPr lang="ru-RU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/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ru-RU" sz="2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Отчеты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 текущим учебно-исследовательским (лабораторным) работам следует присылать на проверку в электронном виде </a:t>
            </a:r>
            <a:r>
              <a:rPr lang="ru-RU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менее чем за 3 дня до защиты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только</a:t>
            </a: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на почту преподавателя, ведущего лабораторные занятия. 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ru-RU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u-RU" sz="3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"/>
              </a:rPr>
              <a:t>____@</a:t>
            </a:r>
            <a:r>
              <a:rPr lang="en-US" sz="36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"/>
              </a:rPr>
              <a:t>itmo</a:t>
            </a:r>
            <a:r>
              <a:rPr lang="ru-RU" sz="3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"/>
              </a:rPr>
              <a:t>.</a:t>
            </a:r>
            <a:r>
              <a:rPr lang="en-US" sz="3600" u="sng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"/>
              </a:rPr>
              <a:t>ru</a:t>
            </a:r>
            <a:endParaRPr lang="ru-RU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/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spcAft>
                <a:spcPts val="1200"/>
              </a:spcAft>
            </a:pPr>
            <a:r>
              <a:rPr lang="ru-RU" sz="2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Наименование файла с Отчетом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 ЛР должен иметь вид: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spcAft>
                <a:spcPts val="1200"/>
              </a:spcAft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u-RU" sz="2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&lt;номер группы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2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без буквы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Р)</a:t>
            </a:r>
            <a:r>
              <a:rPr lang="ru-RU" sz="2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ru-RU" sz="2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u-RU" sz="2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&lt;Фамилия студента&gt;</a:t>
            </a:r>
            <a:r>
              <a:rPr lang="ru-RU" sz="2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u-RU" sz="2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ЛР</a:t>
            </a:r>
            <a:r>
              <a:rPr lang="ru-RU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№</a:t>
            </a:r>
            <a:r>
              <a:rPr lang="ru-RU" sz="28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spcAft>
                <a:spcPts val="1200"/>
              </a:spcAft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где 	</a:t>
            </a:r>
            <a:r>
              <a:rPr lang="ru-RU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№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1, 2, 3, 4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/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Например: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/>
            <a:r>
              <a:rPr lang="ru-RU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30000</a:t>
            </a:r>
            <a:r>
              <a:rPr lang="ru-RU" sz="28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u-RU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Иванов</a:t>
            </a:r>
            <a:r>
              <a:rPr lang="ru-RU" sz="28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u-RU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ЛР1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/>
            <a:r>
              <a:rPr lang="ru-RU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31111</a:t>
            </a:r>
            <a:r>
              <a:rPr lang="ru-RU" sz="28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u-RU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Петров</a:t>
            </a:r>
            <a:r>
              <a:rPr lang="ru-RU" sz="28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u-RU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Андрей</a:t>
            </a:r>
            <a:r>
              <a:rPr lang="ru-RU" sz="28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ru-RU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ЛР2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212" y="161925"/>
            <a:ext cx="10315575" cy="6534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7360" y="211240"/>
            <a:ext cx="11236960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Вводный тест по ТВ</a:t>
            </a:r>
            <a:endParaRPr lang="ru-RU" sz="2800" b="1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Дайте определение «</a:t>
            </a:r>
            <a:r>
              <a:rPr lang="ru-RU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случайной величины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и приведите примеры случайных величин.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чем разница между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дискретными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величинами?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«</a:t>
            </a:r>
            <a:r>
              <a:rPr lang="ru-RU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вероятность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»?</a:t>
            </a:r>
            <a:endParaRPr lang="ru-RU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ru-RU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закон распределения случайной величины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Какие законы распределения случайной величины известны вам?</a:t>
            </a:r>
            <a:endParaRPr lang="ru-RU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</a:t>
            </a:r>
            <a:r>
              <a:rPr lang="ru-RU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распределения вероятностей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какие значения она может принимать?</a:t>
            </a:r>
            <a:endParaRPr lang="ru-RU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плотность</a:t>
            </a:r>
            <a:r>
              <a:rPr lang="ru-RU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распределения вероятностей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какие значения она может принимать?</a:t>
            </a:r>
            <a:endParaRPr lang="ru-RU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Какую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размерность 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имеет плотность распределения вероятностей, если случайная величина имеет размерность «секунды»?</a:t>
            </a:r>
            <a:endParaRPr lang="ru-RU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Какую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размерность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имеет функция распределения вероятностей, если случайная величина имеет размерность «метры»?</a:t>
            </a:r>
            <a:endParaRPr lang="ru-RU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характеризует </a:t>
            </a:r>
            <a:r>
              <a:rPr lang="ru-RU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математическое ожидание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характеризует </a:t>
            </a:r>
            <a:r>
              <a:rPr lang="ru-RU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дисперсия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ru-RU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среднеквадратическое отклонение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что оно характеризует?</a:t>
            </a:r>
            <a:endParaRPr lang="ru-RU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ru-RU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коэффициент вариации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что он характеризует?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3" algn="just">
              <a:spcBef>
                <a:spcPts val="600"/>
              </a:spcBef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чем разница между терминами «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«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корреляция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и «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ковариация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»?</a:t>
            </a:r>
            <a:endParaRPr lang="ru-RU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3098</Words>
  <Application>WPS Presentation</Application>
  <PresentationFormat>Широкоэкранный</PresentationFormat>
  <Paragraphs>84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Calibri Light</vt:lpstr>
      <vt:lpstr>Тема Office</vt:lpstr>
      <vt:lpstr>Моделирование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altaizra@outlook.com</dc:creator>
  <cp:lastModifiedBy>Елена</cp:lastModifiedBy>
  <cp:revision>10</cp:revision>
  <dcterms:created xsi:type="dcterms:W3CDTF">2023-08-15T12:39:00Z</dcterms:created>
  <dcterms:modified xsi:type="dcterms:W3CDTF">2026-08-31T17:18:48Z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BDDD8CAC4D33401A956A36A3C5493999_13</vt:lpwstr>
  </property>
  <property fmtid="{D5CDD505-2E9C-101B-9397-08002B2CF9AE}" pid="3" name="KSOProductBuildVer">
    <vt:lpwstr>1049-12.2.0.23196</vt:lpwstr>
  </property>
</Properties>
</file>